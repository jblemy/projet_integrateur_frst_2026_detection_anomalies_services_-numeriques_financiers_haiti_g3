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9"/>
  </p:notesMasterIdLst>
  <p:sldIdLst>
    <p:sldId id="256" r:id="rId2"/>
    <p:sldId id="266" r:id="rId3"/>
    <p:sldId id="267" r:id="rId4"/>
    <p:sldId id="268" r:id="rId5"/>
    <p:sldId id="270" r:id="rId6"/>
    <p:sldId id="269" r:id="rId7"/>
    <p:sldId id="259" r:id="rId8"/>
    <p:sldId id="271" r:id="rId9"/>
    <p:sldId id="272" r:id="rId10"/>
    <p:sldId id="273" r:id="rId11"/>
    <p:sldId id="274" r:id="rId12"/>
    <p:sldId id="263" r:id="rId13"/>
    <p:sldId id="275" r:id="rId14"/>
    <p:sldId id="276" r:id="rId15"/>
    <p:sldId id="277" r:id="rId16"/>
    <p:sldId id="278" r:id="rId17"/>
    <p:sldId id="279" r:id="rId18"/>
  </p:sldIdLst>
  <p:sldSz cx="9144000" cy="5143500" type="screen16x9"/>
  <p:notesSz cx="5143500" cy="9144000"/>
  <p:embeddedFontLst>
    <p:embeddedFont>
      <p:font typeface="Arimo" panose="020B0604020202020204" charset="0"/>
      <p:regular r:id="rId20"/>
    </p:embeddedFont>
    <p:embeddedFont>
      <p:font typeface="Outfit ExtraBold" panose="020B0604020202020204" charset="0"/>
      <p:regular r:id="rId21"/>
    </p:embeddedFont>
    <p:embeddedFont>
      <p:font typeface="Calibri" panose="020F0502020204030204" pitchFamily="34" charset="0"/>
      <p:regular r:id="rId22"/>
      <p:bold r:id="rId23"/>
      <p:italic r:id="rId24"/>
      <p:boldItalic r:id="rId25"/>
    </p:embeddedFont>
    <p:embeddedFont>
      <p:font typeface="Arimo Bold" panose="020B0604020202020204" charset="0"/>
      <p:regular r:id="rId26"/>
    </p:embeddedFont>
    <p:embeddedFont>
      <p:font typeface="Outfit Light" panose="020B0604020202020204" charset="0"/>
      <p:regular r:id="rId27"/>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C0000"/>
    <a:srgbClr val="D00000"/>
    <a:srgbClr val="D6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00" d="100"/>
          <a:sy n="100" d="100"/>
        </p:scale>
        <p:origin x="1104" y="4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7.fntdata"/><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6.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4.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notesMaster" Target="notesMasters/notesMaster1.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openxmlformats.org/officeDocument/2006/relationships/font" Target="fonts/font8.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01226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9157683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33240840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7449305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1301176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9167382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7442590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42316539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9590542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8327715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21300543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304977456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203160140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242856667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9188003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FAFAFA">
              <a:alpha val="95000"/>
            </a:srgbClr>
          </a:solidFill>
          <a:ln/>
        </p:spPr>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6.jpe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3-5.svg"/><Relationship Id="rId5" Type="http://schemas.openxmlformats.org/officeDocument/2006/relationships/image" Target="../media/image5.png"/><Relationship Id="rId4" Type="http://schemas.openxmlformats.org/officeDocument/2006/relationships/image" Target="../media/image-3-3.sv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4-6.svg"/><Relationship Id="rId3" Type="http://schemas.openxmlformats.org/officeDocument/2006/relationships/image" Target="../media/image7.pn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4-4.svg"/><Relationship Id="rId5" Type="http://schemas.openxmlformats.org/officeDocument/2006/relationships/image" Target="../media/image8.png"/><Relationship Id="rId4" Type="http://schemas.openxmlformats.org/officeDocument/2006/relationships/image" Target="../media/image-4-2.sv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0-2.svg"/><Relationship Id="rId3" Type="http://schemas.openxmlformats.org/officeDocument/2006/relationships/image" Target="../media/image11.png"/><Relationship Id="rId12" Type="http://schemas.openxmlformats.org/officeDocument/2006/relationships/image" Target="../media/image-10-2.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0-2.svg"/><Relationship Id="rId5" Type="http://schemas.openxmlformats.org/officeDocument/2006/relationships/image" Target="../media/image-10-2.svg"/><Relationship Id="rId10" Type="http://schemas.openxmlformats.org/officeDocument/2006/relationships/image" Target="../media/image-10-2.svg"/><Relationship Id="rId4" Type="http://schemas.openxmlformats.org/officeDocument/2006/relationships/image" Target="../media/image-10-2.sv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3429000" cy="5143500"/>
          </a:xfrm>
          <a:prstGeom prst="rect">
            <a:avLst/>
          </a:prstGeom>
        </p:spPr>
      </p:pic>
      <p:sp>
        <p:nvSpPr>
          <p:cNvPr id="3" name="Text 0"/>
          <p:cNvSpPr/>
          <p:nvPr/>
        </p:nvSpPr>
        <p:spPr>
          <a:xfrm>
            <a:off x="3925119" y="1166479"/>
            <a:ext cx="4722763" cy="1056084"/>
          </a:xfrm>
          <a:prstGeom prst="rect">
            <a:avLst/>
          </a:prstGeom>
          <a:noFill/>
          <a:ln/>
        </p:spPr>
        <p:txBody>
          <a:bodyPr wrap="square" lIns="0" tIns="0" rIns="0" bIns="0" rtlCol="0" anchor="t">
            <a:normAutofit fontScale="85000" lnSpcReduction="10000"/>
          </a:bodyPr>
          <a:lstStyle/>
          <a:p>
            <a:pPr algn="just">
              <a:lnSpc>
                <a:spcPct val="104000"/>
              </a:lnSpc>
            </a:pPr>
            <a:r>
              <a:rPr lang="en-US" sz="2800" dirty="0" err="1">
                <a:solidFill>
                  <a:srgbClr val="231971"/>
                </a:solidFill>
                <a:latin typeface="Outfit ExtraBold" pitchFamily="34" charset="0"/>
                <a:ea typeface="Outfit ExtraBold" pitchFamily="34" charset="-122"/>
                <a:cs typeface="Outfit ExtraBold" pitchFamily="34" charset="-120"/>
              </a:rPr>
              <a:t>Système</a:t>
            </a:r>
            <a:r>
              <a:rPr lang="en-US" sz="2800" dirty="0">
                <a:solidFill>
                  <a:srgbClr val="231971"/>
                </a:solidFill>
                <a:latin typeface="Outfit ExtraBold" pitchFamily="34" charset="0"/>
                <a:ea typeface="Outfit ExtraBold" pitchFamily="34" charset="-122"/>
                <a:cs typeface="Outfit ExtraBold" pitchFamily="34" charset="-120"/>
              </a:rPr>
              <a:t> Intelligent de </a:t>
            </a:r>
            <a:r>
              <a:rPr lang="en-US" sz="2800" dirty="0" err="1">
                <a:solidFill>
                  <a:srgbClr val="231971"/>
                </a:solidFill>
                <a:latin typeface="Outfit ExtraBold" pitchFamily="34" charset="0"/>
                <a:ea typeface="Outfit ExtraBold" pitchFamily="34" charset="-122"/>
                <a:cs typeface="Outfit ExtraBold" pitchFamily="34" charset="-120"/>
              </a:rPr>
              <a:t>Détection</a:t>
            </a:r>
            <a:r>
              <a:rPr lang="en-US" sz="2800" dirty="0">
                <a:solidFill>
                  <a:srgbClr val="231971"/>
                </a:solidFill>
                <a:latin typeface="Outfit ExtraBold" pitchFamily="34" charset="0"/>
                <a:ea typeface="Outfit ExtraBold" pitchFamily="34" charset="-122"/>
                <a:cs typeface="Outfit ExtraBold" pitchFamily="34" charset="-120"/>
              </a:rPr>
              <a:t> </a:t>
            </a:r>
            <a:r>
              <a:rPr lang="en-US" sz="2800" dirty="0" err="1">
                <a:solidFill>
                  <a:srgbClr val="231971"/>
                </a:solidFill>
                <a:latin typeface="Outfit ExtraBold" pitchFamily="34" charset="0"/>
                <a:ea typeface="Outfit ExtraBold" pitchFamily="34" charset="-122"/>
                <a:cs typeface="Outfit ExtraBold" pitchFamily="34" charset="-120"/>
              </a:rPr>
              <a:t>d'Anomalies</a:t>
            </a:r>
            <a:r>
              <a:rPr lang="en-US" sz="2800" dirty="0">
                <a:solidFill>
                  <a:srgbClr val="231971"/>
                </a:solidFill>
                <a:latin typeface="Outfit ExtraBold" pitchFamily="34" charset="0"/>
                <a:ea typeface="Outfit ExtraBold" pitchFamily="34" charset="-122"/>
                <a:cs typeface="Outfit ExtraBold" pitchFamily="34" charset="-120"/>
              </a:rPr>
              <a:t> </a:t>
            </a:r>
            <a:r>
              <a:rPr lang="en-US" sz="2800" dirty="0" err="1">
                <a:solidFill>
                  <a:srgbClr val="231971"/>
                </a:solidFill>
                <a:latin typeface="Outfit ExtraBold" pitchFamily="34" charset="0"/>
                <a:ea typeface="Outfit ExtraBold" pitchFamily="34" charset="-122"/>
                <a:cs typeface="Outfit ExtraBold" pitchFamily="34" charset="-120"/>
              </a:rPr>
              <a:t>dans</a:t>
            </a:r>
            <a:r>
              <a:rPr lang="en-US" sz="2800" dirty="0">
                <a:solidFill>
                  <a:srgbClr val="231971"/>
                </a:solidFill>
                <a:latin typeface="Outfit ExtraBold" pitchFamily="34" charset="0"/>
                <a:ea typeface="Outfit ExtraBold" pitchFamily="34" charset="-122"/>
                <a:cs typeface="Outfit ExtraBold" pitchFamily="34" charset="-120"/>
              </a:rPr>
              <a:t> les Services Financiers </a:t>
            </a:r>
            <a:r>
              <a:rPr lang="en-US" sz="2800" dirty="0" err="1">
                <a:solidFill>
                  <a:srgbClr val="231971"/>
                </a:solidFill>
                <a:latin typeface="Outfit ExtraBold" pitchFamily="34" charset="0"/>
                <a:ea typeface="Outfit ExtraBold" pitchFamily="34" charset="-122"/>
                <a:cs typeface="Outfit ExtraBold" pitchFamily="34" charset="-120"/>
              </a:rPr>
              <a:t>Numériques</a:t>
            </a:r>
            <a:r>
              <a:rPr lang="en-US" sz="2800" dirty="0">
                <a:solidFill>
                  <a:srgbClr val="231971"/>
                </a:solidFill>
                <a:latin typeface="Outfit ExtraBold" pitchFamily="34" charset="0"/>
                <a:ea typeface="Outfit ExtraBold" pitchFamily="34" charset="-122"/>
                <a:cs typeface="Outfit ExtraBold" pitchFamily="34" charset="-120"/>
              </a:rPr>
              <a:t> </a:t>
            </a:r>
            <a:r>
              <a:rPr lang="en-US" sz="2800" dirty="0" err="1">
                <a:solidFill>
                  <a:srgbClr val="231971"/>
                </a:solidFill>
                <a:latin typeface="Outfit ExtraBold" pitchFamily="34" charset="0"/>
                <a:ea typeface="Outfit ExtraBold" pitchFamily="34" charset="-122"/>
                <a:cs typeface="Outfit ExtraBold" pitchFamily="34" charset="-120"/>
              </a:rPr>
              <a:t>en</a:t>
            </a:r>
            <a:r>
              <a:rPr lang="en-US" sz="2800" dirty="0">
                <a:solidFill>
                  <a:srgbClr val="231971"/>
                </a:solidFill>
                <a:latin typeface="Outfit ExtraBold" pitchFamily="34" charset="0"/>
                <a:ea typeface="Outfit ExtraBold" pitchFamily="34" charset="-122"/>
                <a:cs typeface="Outfit ExtraBold" pitchFamily="34" charset="-120"/>
              </a:rPr>
              <a:t> </a:t>
            </a:r>
            <a:r>
              <a:rPr lang="en-US" sz="2800" dirty="0" err="1">
                <a:solidFill>
                  <a:srgbClr val="231971"/>
                </a:solidFill>
                <a:latin typeface="Outfit ExtraBold" pitchFamily="34" charset="0"/>
                <a:ea typeface="Outfit ExtraBold" pitchFamily="34" charset="-122"/>
                <a:cs typeface="Outfit ExtraBold" pitchFamily="34" charset="-120"/>
              </a:rPr>
              <a:t>Haïti</a:t>
            </a:r>
            <a:endParaRPr lang="en-US" sz="2800" dirty="0"/>
          </a:p>
        </p:txBody>
      </p:sp>
      <p:sp>
        <p:nvSpPr>
          <p:cNvPr id="4" name="Text 1"/>
          <p:cNvSpPr/>
          <p:nvPr/>
        </p:nvSpPr>
        <p:spPr>
          <a:xfrm>
            <a:off x="3925119" y="2598346"/>
            <a:ext cx="4722763" cy="453628"/>
          </a:xfrm>
          <a:prstGeom prst="rect">
            <a:avLst/>
          </a:prstGeom>
          <a:noFill/>
          <a:ln/>
        </p:spPr>
        <p:txBody>
          <a:bodyPr wrap="square" lIns="0" tIns="0" rIns="0" bIns="0" rtlCol="0" anchor="t">
            <a:noAutofit/>
          </a:bodyPr>
          <a:lstStyle/>
          <a:p>
            <a:pPr algn="ctr">
              <a:lnSpc>
                <a:spcPct val="133000"/>
              </a:lnSpc>
            </a:pPr>
            <a:r>
              <a:rPr lang="en-US" sz="1200" dirty="0" err="1" smtClean="0">
                <a:solidFill>
                  <a:srgbClr val="2A2742"/>
                </a:solidFill>
                <a:latin typeface="Arimo" panose="020B0604020202020204" charset="0"/>
                <a:ea typeface="Arimo" panose="020B0604020202020204" charset="0"/>
                <a:cs typeface="Arimo" panose="020B0604020202020204" charset="0"/>
              </a:rPr>
              <a:t>Projet</a:t>
            </a:r>
            <a:r>
              <a:rPr lang="en-US" sz="1200" dirty="0" smtClean="0">
                <a:solidFill>
                  <a:srgbClr val="2A2742"/>
                </a:solidFill>
                <a:latin typeface="Arimo" panose="020B0604020202020204" charset="0"/>
                <a:ea typeface="Arimo" panose="020B0604020202020204" charset="0"/>
                <a:cs typeface="Arimo" panose="020B0604020202020204" charset="0"/>
              </a:rPr>
              <a:t> de Fin </a:t>
            </a:r>
            <a:r>
              <a:rPr lang="en-US" sz="1200" dirty="0" err="1" smtClean="0">
                <a:solidFill>
                  <a:srgbClr val="2A2742"/>
                </a:solidFill>
                <a:latin typeface="Arimo" panose="020B0604020202020204" charset="0"/>
                <a:ea typeface="Arimo" panose="020B0604020202020204" charset="0"/>
                <a:cs typeface="Arimo" panose="020B0604020202020204" charset="0"/>
              </a:rPr>
              <a:t>d'Études</a:t>
            </a:r>
            <a:r>
              <a:rPr lang="en-US" sz="1200" dirty="0">
                <a:solidFill>
                  <a:srgbClr val="2A2742"/>
                </a:solidFill>
                <a:latin typeface="Arimo" panose="020B0604020202020204" charset="0"/>
                <a:ea typeface="Arimo" panose="020B0604020202020204" charset="0"/>
                <a:cs typeface="Arimo" panose="020B0604020202020204" charset="0"/>
              </a:rPr>
              <a:t> </a:t>
            </a:r>
            <a:r>
              <a:rPr lang="en-US" sz="1200" dirty="0" smtClean="0">
                <a:solidFill>
                  <a:srgbClr val="2A2742"/>
                </a:solidFill>
                <a:latin typeface="Arimo" panose="020B0604020202020204" charset="0"/>
                <a:ea typeface="Arimo" panose="020B0604020202020204" charset="0"/>
                <a:cs typeface="Arimo" panose="020B0604020202020204" charset="0"/>
              </a:rPr>
              <a:t>- </a:t>
            </a:r>
            <a:r>
              <a:rPr lang="fr-FR" sz="1200" dirty="0" smtClean="0">
                <a:solidFill>
                  <a:srgbClr val="2A2742"/>
                </a:solidFill>
                <a:latin typeface="Arimo" panose="020B0604020202020204" charset="0"/>
                <a:ea typeface="Arimo" panose="020B0604020202020204" charset="0"/>
                <a:cs typeface="Arimo" panose="020B0604020202020204" charset="0"/>
              </a:rPr>
              <a:t>Science </a:t>
            </a:r>
            <a:r>
              <a:rPr lang="fr-FR" sz="1200" dirty="0">
                <a:solidFill>
                  <a:srgbClr val="2A2742"/>
                </a:solidFill>
                <a:latin typeface="Arimo" panose="020B0604020202020204" charset="0"/>
                <a:ea typeface="Arimo" panose="020B0604020202020204" charset="0"/>
                <a:cs typeface="Arimo" panose="020B0604020202020204" charset="0"/>
              </a:rPr>
              <a:t>des Données, Intelligence Artificielle et Mathématiques pour l'IA</a:t>
            </a:r>
            <a:endParaRPr lang="en-US" sz="1200" dirty="0">
              <a:latin typeface="Arimo" panose="020B0604020202020204" charset="0"/>
              <a:ea typeface="Arimo" panose="020B0604020202020204" charset="0"/>
              <a:cs typeface="Arimo" panose="020B0604020202020204" charset="0"/>
            </a:endParaRPr>
          </a:p>
        </p:txBody>
      </p:sp>
      <p:sp>
        <p:nvSpPr>
          <p:cNvPr id="5" name="Shape 2"/>
          <p:cNvSpPr/>
          <p:nvPr/>
        </p:nvSpPr>
        <p:spPr>
          <a:xfrm>
            <a:off x="4468059" y="3531483"/>
            <a:ext cx="2682850" cy="215354"/>
          </a:xfrm>
          <a:prstGeom prst="roundRect">
            <a:avLst>
              <a:gd name="adj" fmla="val 22119"/>
            </a:avLst>
          </a:prstGeom>
          <a:solidFill>
            <a:srgbClr val="D7D2F9"/>
          </a:solidFill>
          <a:ln/>
        </p:spPr>
      </p:sp>
      <p:sp>
        <p:nvSpPr>
          <p:cNvPr id="6" name="Text 3"/>
          <p:cNvSpPr/>
          <p:nvPr/>
        </p:nvSpPr>
        <p:spPr>
          <a:xfrm>
            <a:off x="4624554" y="3573973"/>
            <a:ext cx="2385851" cy="130373"/>
          </a:xfrm>
          <a:prstGeom prst="rect">
            <a:avLst/>
          </a:prstGeom>
          <a:noFill/>
          <a:ln/>
        </p:spPr>
        <p:txBody>
          <a:bodyPr wrap="none" lIns="0" tIns="0" rIns="0" bIns="0" rtlCol="0" anchor="t"/>
          <a:lstStyle/>
          <a:p>
            <a:pPr marL="0" indent="0" algn="l">
              <a:lnSpc>
                <a:spcPct val="96000"/>
              </a:lnSpc>
              <a:buNone/>
            </a:pPr>
            <a:r>
              <a:rPr lang="en-US" sz="850" dirty="0" smtClean="0">
                <a:solidFill>
                  <a:srgbClr val="2A2742"/>
                </a:solidFill>
                <a:latin typeface="Arimo" pitchFamily="34" charset="0"/>
                <a:ea typeface="Arimo" pitchFamily="34" charset="-122"/>
                <a:cs typeface="Arimo" pitchFamily="34" charset="-120"/>
              </a:rPr>
              <a:t>UEH - FACULTÉ DES SCIENCES | FRST / BRH</a:t>
            </a:r>
            <a:endParaRPr lang="en-US" sz="850" dirty="0"/>
          </a:p>
        </p:txBody>
      </p:sp>
      <p:sp>
        <p:nvSpPr>
          <p:cNvPr id="7" name="Shape 4"/>
          <p:cNvSpPr/>
          <p:nvPr/>
        </p:nvSpPr>
        <p:spPr>
          <a:xfrm>
            <a:off x="7221751" y="3531483"/>
            <a:ext cx="892597" cy="215354"/>
          </a:xfrm>
          <a:prstGeom prst="roundRect">
            <a:avLst>
              <a:gd name="adj" fmla="val 22119"/>
            </a:avLst>
          </a:prstGeom>
          <a:noFill/>
          <a:ln w="4763">
            <a:solidFill>
              <a:srgbClr val="5E4CE6"/>
            </a:solidFill>
            <a:prstDash val="solid"/>
          </a:ln>
        </p:spPr>
      </p:sp>
      <p:sp>
        <p:nvSpPr>
          <p:cNvPr id="8" name="Text 5"/>
          <p:cNvSpPr/>
          <p:nvPr/>
        </p:nvSpPr>
        <p:spPr>
          <a:xfrm>
            <a:off x="7287754" y="3593023"/>
            <a:ext cx="1179686" cy="130373"/>
          </a:xfrm>
          <a:prstGeom prst="rect">
            <a:avLst/>
          </a:prstGeom>
          <a:noFill/>
          <a:ln/>
        </p:spPr>
        <p:txBody>
          <a:bodyPr wrap="none" lIns="0" tIns="0" rIns="0" bIns="0" rtlCol="0" anchor="t"/>
          <a:lstStyle/>
          <a:p>
            <a:pPr marL="0" indent="0" algn="l">
              <a:lnSpc>
                <a:spcPct val="96000"/>
              </a:lnSpc>
              <a:buNone/>
            </a:pPr>
            <a:r>
              <a:rPr lang="en-US" sz="850" dirty="0" smtClean="0">
                <a:solidFill>
                  <a:srgbClr val="5E4CE6"/>
                </a:solidFill>
                <a:latin typeface="Arimo" pitchFamily="34" charset="0"/>
                <a:ea typeface="Arimo" pitchFamily="34" charset="-122"/>
                <a:cs typeface="Arimo" pitchFamily="34" charset="-120"/>
              </a:rPr>
              <a:t>JUILLET </a:t>
            </a:r>
            <a:r>
              <a:rPr lang="en-US" sz="850" dirty="0">
                <a:solidFill>
                  <a:srgbClr val="5E4CE6"/>
                </a:solidFill>
                <a:latin typeface="Arimo" pitchFamily="34" charset="0"/>
                <a:ea typeface="Arimo" pitchFamily="34" charset="-122"/>
                <a:cs typeface="Arimo" pitchFamily="34" charset="-120"/>
              </a:rPr>
              <a:t>2026</a:t>
            </a:r>
            <a:endParaRPr lang="en-US" sz="850" dirty="0"/>
          </a:p>
        </p:txBody>
      </p:sp>
      <p:sp>
        <p:nvSpPr>
          <p:cNvPr id="9" name="Text 6"/>
          <p:cNvSpPr/>
          <p:nvPr/>
        </p:nvSpPr>
        <p:spPr>
          <a:xfrm>
            <a:off x="5486809" y="4391553"/>
            <a:ext cx="2697071" cy="284693"/>
          </a:xfrm>
          <a:prstGeom prst="rect">
            <a:avLst/>
          </a:prstGeom>
          <a:noFill/>
          <a:ln/>
        </p:spPr>
        <p:txBody>
          <a:bodyPr wrap="square" lIns="0" tIns="0" rIns="0" bIns="0" rtlCol="0" anchor="t">
            <a:noAutofit/>
          </a:bodyPr>
          <a:lstStyle/>
          <a:p>
            <a:pPr marL="0" indent="0" algn="l">
              <a:lnSpc>
                <a:spcPct val="133000"/>
              </a:lnSpc>
              <a:buNone/>
            </a:pPr>
            <a:r>
              <a:rPr lang="en-US" sz="1200" dirty="0">
                <a:solidFill>
                  <a:srgbClr val="2A2742"/>
                </a:solidFill>
                <a:latin typeface="Arimo" pitchFamily="34" charset="0"/>
                <a:ea typeface="Arimo" pitchFamily="34" charset="-122"/>
                <a:cs typeface="Arimo" pitchFamily="34" charset="-120"/>
              </a:rPr>
              <a:t>Encadrant : Prof. Evens </a:t>
            </a:r>
            <a:r>
              <a:rPr lang="en-US" sz="1200" dirty="0" smtClean="0">
                <a:solidFill>
                  <a:srgbClr val="2A2742"/>
                </a:solidFill>
                <a:latin typeface="Arimo" pitchFamily="34" charset="0"/>
                <a:ea typeface="Arimo" pitchFamily="34" charset="-122"/>
                <a:cs typeface="Arimo" pitchFamily="34" charset="-120"/>
              </a:rPr>
              <a:t>Toussaint</a:t>
            </a:r>
            <a:endParaRPr lang="en-US" sz="1200" dirty="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502434" y="401389"/>
            <a:ext cx="1672816" cy="332259"/>
          </a:xfrm>
          <a:prstGeom prst="rect">
            <a:avLst/>
          </a:prstGeom>
          <a:noFill/>
          <a:ln/>
        </p:spPr>
        <p:txBody>
          <a:bodyPr wrap="none" lIns="0" tIns="0" rIns="0" bIns="0" rtlCol="0" anchor="t"/>
          <a:lstStyle/>
          <a:p>
            <a:pPr marL="0" indent="0" algn="l">
              <a:lnSpc>
                <a:spcPct val="104000"/>
              </a:lnSpc>
              <a:buNone/>
            </a:pPr>
            <a:r>
              <a:rPr lang="en-US" sz="2050" dirty="0" smtClean="0">
                <a:solidFill>
                  <a:srgbClr val="231971"/>
                </a:solidFill>
                <a:latin typeface="Outfit ExtraBold" pitchFamily="34" charset="0"/>
                <a:ea typeface="Outfit ExtraBold" pitchFamily="34" charset="-122"/>
                <a:cs typeface="Outfit ExtraBold" pitchFamily="34" charset="-120"/>
              </a:rPr>
              <a:t>NOTRE ÉQUIPE</a:t>
            </a:r>
            <a:endParaRPr lang="en-US" sz="2050" dirty="0"/>
          </a:p>
        </p:txBody>
      </p:sp>
      <p:sp>
        <p:nvSpPr>
          <p:cNvPr id="5" name="Shape 2"/>
          <p:cNvSpPr/>
          <p:nvPr/>
        </p:nvSpPr>
        <p:spPr>
          <a:xfrm>
            <a:off x="169262" y="2301851"/>
            <a:ext cx="2684487" cy="616669"/>
          </a:xfrm>
          <a:prstGeom prst="roundRect">
            <a:avLst>
              <a:gd name="adj" fmla="val 7242"/>
            </a:avLst>
          </a:prstGeom>
          <a:solidFill>
            <a:srgbClr val="E9E6FA"/>
          </a:solidFill>
          <a:ln w="4763">
            <a:solidFill>
              <a:srgbClr val="BDB8DF"/>
            </a:solidFill>
            <a:prstDash val="solid"/>
          </a:ln>
        </p:spPr>
      </p:sp>
      <p:sp>
        <p:nvSpPr>
          <p:cNvPr id="6" name="Text 3"/>
          <p:cNvSpPr/>
          <p:nvPr/>
        </p:nvSpPr>
        <p:spPr>
          <a:xfrm>
            <a:off x="1019824" y="2527139"/>
            <a:ext cx="983363" cy="166092"/>
          </a:xfrm>
          <a:prstGeom prst="rect">
            <a:avLst/>
          </a:prstGeom>
          <a:noFill/>
          <a:ln/>
        </p:spPr>
        <p:txBody>
          <a:bodyPr wrap="none" lIns="0" tIns="0" rIns="0" bIns="0" rtlCol="0" anchor="ctr"/>
          <a:lstStyle/>
          <a:p>
            <a:pPr marL="0" indent="0" algn="l">
              <a:lnSpc>
                <a:spcPct val="104000"/>
              </a:lnSpc>
              <a:buNone/>
            </a:pPr>
            <a:r>
              <a:rPr lang="en-US" sz="1100" dirty="0">
                <a:solidFill>
                  <a:srgbClr val="2A2742"/>
                </a:solidFill>
                <a:latin typeface="Outfit ExtraBold" pitchFamily="34" charset="0"/>
                <a:ea typeface="Outfit ExtraBold" pitchFamily="34" charset="-122"/>
                <a:cs typeface="Outfit ExtraBold" pitchFamily="34" charset="-120"/>
              </a:rPr>
              <a:t>Blémy Joseph</a:t>
            </a:r>
            <a:endParaRPr lang="en-US" sz="1100" dirty="0"/>
          </a:p>
        </p:txBody>
      </p:sp>
      <p:sp>
        <p:nvSpPr>
          <p:cNvPr id="8" name="Shape 5"/>
          <p:cNvSpPr/>
          <p:nvPr/>
        </p:nvSpPr>
        <p:spPr>
          <a:xfrm>
            <a:off x="3247742" y="2273982"/>
            <a:ext cx="2684487" cy="616669"/>
          </a:xfrm>
          <a:prstGeom prst="roundRect">
            <a:avLst>
              <a:gd name="adj" fmla="val 7242"/>
            </a:avLst>
          </a:prstGeom>
          <a:solidFill>
            <a:srgbClr val="E9E6FA"/>
          </a:solidFill>
          <a:ln w="4763">
            <a:solidFill>
              <a:srgbClr val="BDB8DF"/>
            </a:solidFill>
            <a:prstDash val="solid"/>
          </a:ln>
        </p:spPr>
      </p:sp>
      <p:sp>
        <p:nvSpPr>
          <p:cNvPr id="9" name="Text 6"/>
          <p:cNvSpPr/>
          <p:nvPr/>
        </p:nvSpPr>
        <p:spPr>
          <a:xfrm>
            <a:off x="4151009" y="2468054"/>
            <a:ext cx="877953" cy="166092"/>
          </a:xfrm>
          <a:prstGeom prst="rect">
            <a:avLst/>
          </a:prstGeom>
          <a:noFill/>
          <a:ln/>
        </p:spPr>
        <p:txBody>
          <a:bodyPr wrap="none" lIns="0" tIns="0" rIns="0" bIns="0" rtlCol="0" anchor="t"/>
          <a:lstStyle/>
          <a:p>
            <a:pPr marL="0" indent="0" algn="l">
              <a:lnSpc>
                <a:spcPct val="104000"/>
              </a:lnSpc>
              <a:buNone/>
            </a:pPr>
            <a:r>
              <a:rPr lang="en-US" sz="1100" dirty="0">
                <a:solidFill>
                  <a:srgbClr val="2A2742"/>
                </a:solidFill>
                <a:latin typeface="Outfit ExtraBold" pitchFamily="34" charset="0"/>
                <a:ea typeface="Outfit ExtraBold" pitchFamily="34" charset="-122"/>
                <a:cs typeface="Outfit ExtraBold" pitchFamily="34" charset="-120"/>
              </a:rPr>
              <a:t>Jonas Clocin</a:t>
            </a:r>
            <a:endParaRPr lang="en-US" sz="1100" dirty="0"/>
          </a:p>
        </p:txBody>
      </p:sp>
      <p:sp>
        <p:nvSpPr>
          <p:cNvPr id="11" name="Shape 8"/>
          <p:cNvSpPr/>
          <p:nvPr/>
        </p:nvSpPr>
        <p:spPr>
          <a:xfrm>
            <a:off x="6326222" y="2264524"/>
            <a:ext cx="2684487" cy="616669"/>
          </a:xfrm>
          <a:prstGeom prst="roundRect">
            <a:avLst>
              <a:gd name="adj" fmla="val 7242"/>
            </a:avLst>
          </a:prstGeom>
          <a:solidFill>
            <a:srgbClr val="E9E6FA"/>
          </a:solidFill>
          <a:ln w="4763">
            <a:solidFill>
              <a:srgbClr val="BDB8DF"/>
            </a:solidFill>
            <a:prstDash val="solid"/>
          </a:ln>
        </p:spPr>
      </p:sp>
      <p:sp>
        <p:nvSpPr>
          <p:cNvPr id="12" name="Text 9"/>
          <p:cNvSpPr/>
          <p:nvPr/>
        </p:nvSpPr>
        <p:spPr>
          <a:xfrm>
            <a:off x="7065659" y="2473708"/>
            <a:ext cx="1205613" cy="239435"/>
          </a:xfrm>
          <a:prstGeom prst="rect">
            <a:avLst/>
          </a:prstGeom>
          <a:noFill/>
          <a:ln/>
        </p:spPr>
        <p:txBody>
          <a:bodyPr wrap="none" lIns="0" tIns="0" rIns="0" bIns="0" rtlCol="0" anchor="t"/>
          <a:lstStyle/>
          <a:p>
            <a:pPr marL="0" indent="0" algn="l">
              <a:lnSpc>
                <a:spcPct val="104000"/>
              </a:lnSpc>
              <a:buNone/>
            </a:pPr>
            <a:r>
              <a:rPr lang="en-US" sz="1200" dirty="0">
                <a:solidFill>
                  <a:srgbClr val="2A2742"/>
                </a:solidFill>
                <a:latin typeface="Outfit ExtraBold" pitchFamily="34" charset="0"/>
                <a:ea typeface="Outfit ExtraBold" pitchFamily="34" charset="-122"/>
                <a:cs typeface="Outfit ExtraBold" pitchFamily="34" charset="-120"/>
              </a:rPr>
              <a:t>Martin François</a:t>
            </a:r>
            <a:endParaRPr lang="en-US" sz="1200" dirty="0"/>
          </a:p>
        </p:txBody>
      </p:sp>
    </p:spTree>
    <p:extLst>
      <p:ext uri="{BB962C8B-B14F-4D97-AF65-F5344CB8AC3E}">
        <p14:creationId xmlns:p14="http://schemas.microsoft.com/office/powerpoint/2010/main" val="2334706688"/>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3795579" y="790501"/>
            <a:ext cx="875481" cy="306779"/>
          </a:xfrm>
          <a:prstGeom prst="roundRect">
            <a:avLst>
              <a:gd name="adj" fmla="val 22104"/>
            </a:avLst>
          </a:prstGeom>
          <a:noFill/>
          <a:ln w="4763">
            <a:solidFill>
              <a:srgbClr val="5E4CE6"/>
            </a:solidFill>
            <a:prstDash val="solid"/>
          </a:ln>
        </p:spPr>
      </p:sp>
      <p:sp>
        <p:nvSpPr>
          <p:cNvPr id="3" name="Text 1"/>
          <p:cNvSpPr/>
          <p:nvPr/>
        </p:nvSpPr>
        <p:spPr>
          <a:xfrm>
            <a:off x="3977566" y="827709"/>
            <a:ext cx="511507" cy="269572"/>
          </a:xfrm>
          <a:prstGeom prst="rect">
            <a:avLst/>
          </a:prstGeom>
          <a:noFill/>
          <a:ln/>
        </p:spPr>
        <p:txBody>
          <a:bodyPr wrap="none" lIns="0" tIns="0" rIns="0" bIns="0" rtlCol="0" anchor="t"/>
          <a:lstStyle/>
          <a:p>
            <a:pPr marL="0" indent="0" algn="l">
              <a:lnSpc>
                <a:spcPct val="96000"/>
              </a:lnSpc>
              <a:buNone/>
            </a:pPr>
            <a:r>
              <a:rPr lang="en-US" sz="1400" b="1" dirty="0" smtClean="0">
                <a:solidFill>
                  <a:srgbClr val="5E4CE6"/>
                </a:solidFill>
                <a:latin typeface="Arimo" pitchFamily="34" charset="0"/>
                <a:ea typeface="Arimo" pitchFamily="34" charset="-122"/>
                <a:cs typeface="Arimo" pitchFamily="34" charset="-120"/>
              </a:rPr>
              <a:t>PLAN</a:t>
            </a:r>
            <a:endParaRPr lang="en-US" sz="1400" b="1" dirty="0"/>
          </a:p>
        </p:txBody>
      </p:sp>
      <p:sp>
        <p:nvSpPr>
          <p:cNvPr id="6" name="Text 3"/>
          <p:cNvSpPr/>
          <p:nvPr/>
        </p:nvSpPr>
        <p:spPr>
          <a:xfrm>
            <a:off x="620092" y="2793802"/>
            <a:ext cx="2469282" cy="193849"/>
          </a:xfrm>
          <a:prstGeom prst="rect">
            <a:avLst/>
          </a:prstGeom>
          <a:noFill/>
          <a:ln/>
        </p:spPr>
        <p:txBody>
          <a:bodyPr wrap="none" lIns="0" tIns="0" rIns="0" bIns="0" rtlCol="0" anchor="t"/>
          <a:lstStyle/>
          <a:p>
            <a:pPr marL="0" indent="0" algn="l">
              <a:lnSpc>
                <a:spcPct val="104000"/>
              </a:lnSpc>
              <a:buNone/>
            </a:pPr>
            <a:r>
              <a:rPr lang="en-US" sz="1200" dirty="0">
                <a:solidFill>
                  <a:srgbClr val="2A2742"/>
                </a:solidFill>
                <a:latin typeface="Outfit ExtraBold" pitchFamily="34" charset="0"/>
                <a:ea typeface="Outfit ExtraBold" pitchFamily="34" charset="-122"/>
                <a:cs typeface="Outfit ExtraBold" pitchFamily="34" charset="-120"/>
              </a:rPr>
              <a:t>Partie 1</a:t>
            </a:r>
            <a:endParaRPr lang="en-US" sz="1200" dirty="0"/>
          </a:p>
        </p:txBody>
      </p:sp>
      <p:sp>
        <p:nvSpPr>
          <p:cNvPr id="7" name="Text 4"/>
          <p:cNvSpPr/>
          <p:nvPr/>
        </p:nvSpPr>
        <p:spPr>
          <a:xfrm>
            <a:off x="620092" y="3062064"/>
            <a:ext cx="2469282" cy="961296"/>
          </a:xfrm>
          <a:prstGeom prst="rect">
            <a:avLst/>
          </a:prstGeom>
          <a:noFill/>
          <a:ln/>
        </p:spPr>
        <p:txBody>
          <a:bodyPr wrap="square" lIns="0" tIns="0" rIns="0" bIns="0" rtlCol="0" anchor="t">
            <a:noAutofit/>
          </a:bodyPr>
          <a:lstStyle/>
          <a:p>
            <a:pPr marL="0" indent="0" algn="just">
              <a:lnSpc>
                <a:spcPct val="133000"/>
              </a:lnSpc>
              <a:buNone/>
            </a:pPr>
            <a:r>
              <a:rPr lang="en-US" sz="1100" dirty="0">
                <a:solidFill>
                  <a:srgbClr val="2A2742"/>
                </a:solidFill>
                <a:latin typeface="Arimo" pitchFamily="34" charset="0"/>
                <a:ea typeface="Arimo" pitchFamily="34" charset="-122"/>
                <a:cs typeface="Arimo" pitchFamily="34" charset="-120"/>
              </a:rPr>
              <a:t>Exposé théorique et technique : contexte, solution </a:t>
            </a:r>
            <a:r>
              <a:rPr lang="en-US" sz="1200" dirty="0">
                <a:solidFill>
                  <a:srgbClr val="2A2742"/>
                </a:solidFill>
                <a:latin typeface="Arimo" pitchFamily="34" charset="0"/>
                <a:ea typeface="Arimo" pitchFamily="34" charset="-122"/>
                <a:cs typeface="Arimo" pitchFamily="34" charset="-120"/>
              </a:rPr>
              <a:t>proposée</a:t>
            </a:r>
            <a:r>
              <a:rPr lang="en-US" sz="1100" dirty="0">
                <a:solidFill>
                  <a:srgbClr val="2A2742"/>
                </a:solidFill>
                <a:latin typeface="Arimo" pitchFamily="34" charset="0"/>
                <a:ea typeface="Arimo" pitchFamily="34" charset="-122"/>
                <a:cs typeface="Arimo" pitchFamily="34" charset="-120"/>
              </a:rPr>
              <a:t>, données et défis, résultats, limites et recommandations</a:t>
            </a:r>
            <a:endParaRPr lang="en-US" sz="1100" dirty="0"/>
          </a:p>
        </p:txBody>
      </p:sp>
      <p:sp>
        <p:nvSpPr>
          <p:cNvPr id="9" name="Text 5"/>
          <p:cNvSpPr/>
          <p:nvPr/>
        </p:nvSpPr>
        <p:spPr>
          <a:xfrm>
            <a:off x="3337322" y="2793802"/>
            <a:ext cx="2469282" cy="193849"/>
          </a:xfrm>
          <a:prstGeom prst="rect">
            <a:avLst/>
          </a:prstGeom>
          <a:noFill/>
          <a:ln/>
        </p:spPr>
        <p:txBody>
          <a:bodyPr wrap="none" lIns="0" tIns="0" rIns="0" bIns="0" rtlCol="0" anchor="t"/>
          <a:lstStyle/>
          <a:p>
            <a:pPr marL="0" indent="0" algn="l">
              <a:lnSpc>
                <a:spcPct val="104000"/>
              </a:lnSpc>
              <a:buNone/>
            </a:pPr>
            <a:r>
              <a:rPr lang="en-US" sz="1200" dirty="0">
                <a:solidFill>
                  <a:srgbClr val="2A2742"/>
                </a:solidFill>
                <a:latin typeface="Outfit ExtraBold" pitchFamily="34" charset="0"/>
                <a:ea typeface="Outfit ExtraBold" pitchFamily="34" charset="-122"/>
                <a:cs typeface="Outfit ExtraBold" pitchFamily="34" charset="-120"/>
              </a:rPr>
              <a:t>Partie 2</a:t>
            </a:r>
            <a:endParaRPr lang="en-US" sz="1200" dirty="0"/>
          </a:p>
        </p:txBody>
      </p:sp>
      <p:sp>
        <p:nvSpPr>
          <p:cNvPr id="10" name="Text 6"/>
          <p:cNvSpPr/>
          <p:nvPr/>
        </p:nvSpPr>
        <p:spPr>
          <a:xfrm>
            <a:off x="3337322" y="3062064"/>
            <a:ext cx="2469282" cy="198462"/>
          </a:xfrm>
          <a:prstGeom prst="rect">
            <a:avLst/>
          </a:prstGeom>
          <a:noFill/>
          <a:ln/>
        </p:spPr>
        <p:txBody>
          <a:bodyPr wrap="none" lIns="0" tIns="0" rIns="0" bIns="0" rtlCol="0" anchor="t"/>
          <a:lstStyle/>
          <a:p>
            <a:pPr marL="0" indent="0" algn="l">
              <a:lnSpc>
                <a:spcPct val="133000"/>
              </a:lnSpc>
              <a:buNone/>
            </a:pPr>
            <a:r>
              <a:rPr lang="en-US" sz="1200" dirty="0">
                <a:solidFill>
                  <a:srgbClr val="2A2742"/>
                </a:solidFill>
                <a:latin typeface="Arimo" pitchFamily="34" charset="0"/>
                <a:ea typeface="Arimo" pitchFamily="34" charset="-122"/>
                <a:cs typeface="Arimo" pitchFamily="34" charset="-120"/>
              </a:rPr>
              <a:t>Démonstration</a:t>
            </a:r>
            <a:r>
              <a:rPr lang="en-US" sz="1100" dirty="0">
                <a:solidFill>
                  <a:srgbClr val="2A2742"/>
                </a:solidFill>
                <a:latin typeface="Arimo" pitchFamily="34" charset="0"/>
                <a:ea typeface="Arimo" pitchFamily="34" charset="-122"/>
                <a:cs typeface="Arimo" pitchFamily="34" charset="-120"/>
              </a:rPr>
              <a:t> du prototype</a:t>
            </a:r>
            <a:endParaRPr lang="en-US" sz="1100" dirty="0"/>
          </a:p>
        </p:txBody>
      </p:sp>
      <p:pic>
        <p:nvPicPr>
          <p:cNvPr id="11" name="Image 2" descr="preencoded.png"/>
          <p:cNvPicPr>
            <a:picLocks noChangeAspect="1"/>
          </p:cNvPicPr>
          <p:nvPr/>
        </p:nvPicPr>
        <p:blipFill>
          <a:blip r:embed="rId3"/>
          <a:stretch>
            <a:fillRect/>
          </a:stretch>
        </p:blipFill>
        <p:spPr>
          <a:xfrm>
            <a:off x="5930578" y="2074649"/>
            <a:ext cx="2717229" cy="496119"/>
          </a:xfrm>
          <a:prstGeom prst="rect">
            <a:avLst/>
          </a:prstGeom>
        </p:spPr>
      </p:pic>
      <p:sp>
        <p:nvSpPr>
          <p:cNvPr id="12" name="Text 7"/>
          <p:cNvSpPr/>
          <p:nvPr/>
        </p:nvSpPr>
        <p:spPr>
          <a:xfrm>
            <a:off x="6054551" y="2793802"/>
            <a:ext cx="2469282" cy="193849"/>
          </a:xfrm>
          <a:prstGeom prst="rect">
            <a:avLst/>
          </a:prstGeom>
          <a:noFill/>
          <a:ln/>
        </p:spPr>
        <p:txBody>
          <a:bodyPr wrap="none" lIns="0" tIns="0" rIns="0" bIns="0" rtlCol="0" anchor="t"/>
          <a:lstStyle/>
          <a:p>
            <a:pPr marL="0" indent="0" algn="l">
              <a:lnSpc>
                <a:spcPct val="104000"/>
              </a:lnSpc>
              <a:buNone/>
            </a:pPr>
            <a:r>
              <a:rPr lang="en-US" sz="1200" dirty="0">
                <a:solidFill>
                  <a:srgbClr val="2A2742"/>
                </a:solidFill>
                <a:latin typeface="Outfit ExtraBold" pitchFamily="34" charset="0"/>
                <a:ea typeface="Outfit ExtraBold" pitchFamily="34" charset="-122"/>
                <a:cs typeface="Outfit ExtraBold" pitchFamily="34" charset="-120"/>
              </a:rPr>
              <a:t>Partie 3</a:t>
            </a:r>
            <a:endParaRPr lang="en-US" sz="1200" dirty="0"/>
          </a:p>
        </p:txBody>
      </p:sp>
      <p:sp>
        <p:nvSpPr>
          <p:cNvPr id="13" name="Text 8"/>
          <p:cNvSpPr/>
          <p:nvPr/>
        </p:nvSpPr>
        <p:spPr>
          <a:xfrm>
            <a:off x="6054551" y="3062064"/>
            <a:ext cx="2469282" cy="198462"/>
          </a:xfrm>
          <a:prstGeom prst="rect">
            <a:avLst/>
          </a:prstGeom>
          <a:noFill/>
          <a:ln/>
        </p:spPr>
        <p:txBody>
          <a:bodyPr wrap="none" lIns="0" tIns="0" rIns="0" bIns="0" rtlCol="0" anchor="t"/>
          <a:lstStyle/>
          <a:p>
            <a:pPr marL="0" indent="0" algn="l">
              <a:lnSpc>
                <a:spcPct val="133000"/>
              </a:lnSpc>
              <a:buNone/>
            </a:pPr>
            <a:r>
              <a:rPr lang="en-US" sz="950" dirty="0">
                <a:solidFill>
                  <a:srgbClr val="2A2742"/>
                </a:solidFill>
                <a:latin typeface="Arimo" pitchFamily="34" charset="0"/>
                <a:ea typeface="Arimo" pitchFamily="34" charset="-122"/>
                <a:cs typeface="Arimo" pitchFamily="34" charset="-120"/>
              </a:rPr>
              <a:t>Questions et réponses</a:t>
            </a:r>
            <a:endParaRPr lang="en-US" sz="950" dirty="0"/>
          </a:p>
        </p:txBody>
      </p:sp>
      <p:pic>
        <p:nvPicPr>
          <p:cNvPr id="14" name="Image 2" descr="preencoded.png"/>
          <p:cNvPicPr>
            <a:picLocks noChangeAspect="1"/>
          </p:cNvPicPr>
          <p:nvPr/>
        </p:nvPicPr>
        <p:blipFill>
          <a:blip r:embed="rId3"/>
          <a:stretch>
            <a:fillRect/>
          </a:stretch>
        </p:blipFill>
        <p:spPr>
          <a:xfrm>
            <a:off x="3213349" y="2074649"/>
            <a:ext cx="2717229" cy="496119"/>
          </a:xfrm>
          <a:prstGeom prst="rect">
            <a:avLst/>
          </a:prstGeom>
        </p:spPr>
      </p:pic>
      <p:pic>
        <p:nvPicPr>
          <p:cNvPr id="15" name="Image 2" descr="preencoded.png"/>
          <p:cNvPicPr>
            <a:picLocks noChangeAspect="1"/>
          </p:cNvPicPr>
          <p:nvPr/>
        </p:nvPicPr>
        <p:blipFill>
          <a:blip r:embed="rId3"/>
          <a:stretch>
            <a:fillRect/>
          </a:stretch>
        </p:blipFill>
        <p:spPr>
          <a:xfrm>
            <a:off x="495263" y="2074649"/>
            <a:ext cx="2717229" cy="496119"/>
          </a:xfrm>
          <a:prstGeom prst="rect">
            <a:avLst/>
          </a:prstGeom>
        </p:spPr>
      </p:pic>
    </p:spTree>
    <p:extLst>
      <p:ext uri="{BB962C8B-B14F-4D97-AF65-F5344CB8AC3E}">
        <p14:creationId xmlns:p14="http://schemas.microsoft.com/office/powerpoint/2010/main" val="4043617617"/>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p:cNvSpPr/>
          <p:nvPr/>
        </p:nvSpPr>
        <p:spPr>
          <a:xfrm>
            <a:off x="496119" y="740474"/>
            <a:ext cx="2096006" cy="428367"/>
          </a:xfrm>
          <a:prstGeom prst="roundRect">
            <a:avLst>
              <a:gd name="adj" fmla="val 22116"/>
            </a:avLst>
          </a:prstGeom>
          <a:solidFill>
            <a:srgbClr val="D7D2F9"/>
          </a:solidFill>
          <a:ln/>
        </p:spPr>
      </p:sp>
      <p:sp>
        <p:nvSpPr>
          <p:cNvPr id="4" name="Text 1"/>
          <p:cNvSpPr/>
          <p:nvPr/>
        </p:nvSpPr>
        <p:spPr>
          <a:xfrm>
            <a:off x="568511" y="883893"/>
            <a:ext cx="1951221" cy="320193"/>
          </a:xfrm>
          <a:prstGeom prst="rect">
            <a:avLst/>
          </a:prstGeom>
          <a:noFill/>
          <a:ln/>
        </p:spPr>
        <p:txBody>
          <a:bodyPr wrap="none" lIns="0" tIns="0" rIns="0" bIns="0" rtlCol="0" anchor="t"/>
          <a:lstStyle/>
          <a:p>
            <a:pPr marL="0" indent="0" algn="l">
              <a:lnSpc>
                <a:spcPct val="96000"/>
              </a:lnSpc>
              <a:buNone/>
            </a:pPr>
            <a:r>
              <a:rPr lang="en-US" sz="1100" b="1" dirty="0" smtClean="0">
                <a:solidFill>
                  <a:srgbClr val="2A2742"/>
                </a:solidFill>
                <a:latin typeface="Arimo" pitchFamily="34" charset="0"/>
                <a:ea typeface="Arimo" pitchFamily="34" charset="-122"/>
                <a:cs typeface="Arimo" pitchFamily="34" charset="-120"/>
              </a:rPr>
              <a:t>INTRODUCTION</a:t>
            </a:r>
            <a:r>
              <a:rPr lang="en-US" sz="900" b="1" dirty="0" smtClean="0">
                <a:solidFill>
                  <a:srgbClr val="2A2742"/>
                </a:solidFill>
                <a:latin typeface="Arimo" pitchFamily="34" charset="0"/>
                <a:ea typeface="Arimo" pitchFamily="34" charset="-122"/>
                <a:cs typeface="Arimo" pitchFamily="34" charset="-120"/>
              </a:rPr>
              <a:t> </a:t>
            </a:r>
            <a:r>
              <a:rPr lang="en-US" sz="1100" b="1" dirty="0" smtClean="0">
                <a:solidFill>
                  <a:srgbClr val="2A2742"/>
                </a:solidFill>
                <a:latin typeface="Arimo" pitchFamily="34" charset="0"/>
                <a:ea typeface="Arimo" pitchFamily="34" charset="-122"/>
                <a:cs typeface="Arimo" pitchFamily="34" charset="-120"/>
              </a:rPr>
              <a:t>- CONTEXTE</a:t>
            </a:r>
            <a:endParaRPr lang="en-US" sz="1100" b="1" dirty="0"/>
          </a:p>
        </p:txBody>
      </p:sp>
      <p:sp>
        <p:nvSpPr>
          <p:cNvPr id="6" name="Text 3"/>
          <p:cNvSpPr/>
          <p:nvPr/>
        </p:nvSpPr>
        <p:spPr>
          <a:xfrm>
            <a:off x="527924" y="1333531"/>
            <a:ext cx="4722763" cy="1178464"/>
          </a:xfrm>
          <a:prstGeom prst="rect">
            <a:avLst/>
          </a:prstGeom>
          <a:noFill/>
          <a:ln/>
        </p:spPr>
        <p:txBody>
          <a:bodyPr wrap="square" lIns="0" tIns="0" rIns="0" bIns="0" rtlCol="0" anchor="t">
            <a:noAutofit/>
          </a:bodyPr>
          <a:lstStyle/>
          <a:p>
            <a:pPr algn="just">
              <a:lnSpc>
                <a:spcPct val="132000"/>
              </a:lnSpc>
            </a:pPr>
            <a:r>
              <a:rPr lang="en-US" sz="1100" dirty="0">
                <a:solidFill>
                  <a:srgbClr val="2A2742"/>
                </a:solidFill>
                <a:latin typeface="Arimo" pitchFamily="34" charset="0"/>
                <a:ea typeface="Arimo" pitchFamily="34" charset="-122"/>
                <a:cs typeface="Arimo" pitchFamily="34" charset="-120"/>
              </a:rPr>
              <a:t>L'expansion des services financiers numériques en Haïti facilite l'accès aux applications mobiles et aux transferts, mais expose les institutions à une hausse inquiétante des fraudes transactionnelles. En 2025, la</a:t>
            </a:r>
            <a:r>
              <a:rPr lang="en-US" sz="1100" b="1" dirty="0">
                <a:solidFill>
                  <a:srgbClr val="2A2742"/>
                </a:solidFill>
                <a:latin typeface="Arimo" pitchFamily="34" charset="0"/>
                <a:ea typeface="Arimo" pitchFamily="34" charset="-122"/>
                <a:cs typeface="Arimo" pitchFamily="34" charset="-120"/>
              </a:rPr>
              <a:t> </a:t>
            </a:r>
            <a:r>
              <a:rPr lang="en-US" sz="1100" b="1" dirty="0">
                <a:solidFill>
                  <a:srgbClr val="2A2742"/>
                </a:solidFill>
                <a:latin typeface="Arimo Bold" pitchFamily="34" charset="0"/>
                <a:ea typeface="Arimo Bold" pitchFamily="34" charset="-122"/>
                <a:cs typeface="Arimo Bold" pitchFamily="34" charset="-120"/>
              </a:rPr>
              <a:t>Banque de la République d'Haïti (BRH)</a:t>
            </a:r>
            <a:r>
              <a:rPr lang="en-US" sz="1100" b="1" dirty="0">
                <a:solidFill>
                  <a:srgbClr val="2A2742"/>
                </a:solidFill>
                <a:latin typeface="Arimo" pitchFamily="34" charset="0"/>
                <a:ea typeface="Arimo" pitchFamily="34" charset="-122"/>
                <a:cs typeface="Arimo" pitchFamily="34" charset="-120"/>
              </a:rPr>
              <a:t> </a:t>
            </a:r>
            <a:r>
              <a:rPr lang="en-US" sz="1100" dirty="0">
                <a:solidFill>
                  <a:srgbClr val="2A2742"/>
                </a:solidFill>
                <a:latin typeface="Arimo" pitchFamily="34" charset="0"/>
                <a:ea typeface="Arimo" pitchFamily="34" charset="-122"/>
                <a:cs typeface="Arimo" pitchFamily="34" charset="-120"/>
              </a:rPr>
              <a:t>a formellement rappelé aux établissements leurs obligations de vigilance. Le </a:t>
            </a:r>
            <a:r>
              <a:rPr lang="en-US" sz="1100" dirty="0" err="1">
                <a:solidFill>
                  <a:srgbClr val="2A2742"/>
                </a:solidFill>
                <a:latin typeface="Arimo" pitchFamily="34" charset="0"/>
                <a:ea typeface="Arimo" pitchFamily="34" charset="-122"/>
                <a:cs typeface="Arimo" pitchFamily="34" charset="-120"/>
              </a:rPr>
              <a:t>problème</a:t>
            </a:r>
            <a:r>
              <a:rPr lang="en-US" sz="1100" dirty="0">
                <a:solidFill>
                  <a:srgbClr val="2A2742"/>
                </a:solidFill>
                <a:latin typeface="Arimo" pitchFamily="34" charset="0"/>
                <a:ea typeface="Arimo" pitchFamily="34" charset="-122"/>
                <a:cs typeface="Arimo" pitchFamily="34" charset="-120"/>
              </a:rPr>
              <a:t> </a:t>
            </a:r>
            <a:r>
              <a:rPr lang="en-US" sz="1100" dirty="0" err="1">
                <a:solidFill>
                  <a:srgbClr val="2A2742"/>
                </a:solidFill>
                <a:latin typeface="Arimo" pitchFamily="34" charset="0"/>
                <a:ea typeface="Arimo" pitchFamily="34" charset="-122"/>
                <a:cs typeface="Arimo" pitchFamily="34" charset="-120"/>
              </a:rPr>
              <a:t>est</a:t>
            </a:r>
            <a:r>
              <a:rPr lang="en-US" sz="1100" dirty="0">
                <a:solidFill>
                  <a:srgbClr val="2A2742"/>
                </a:solidFill>
                <a:latin typeface="Arimo" pitchFamily="34" charset="0"/>
                <a:ea typeface="Arimo" pitchFamily="34" charset="-122"/>
                <a:cs typeface="Arimo" pitchFamily="34" charset="-120"/>
              </a:rPr>
              <a:t> critique : </a:t>
            </a:r>
            <a:endParaRPr lang="en-US" sz="1100" dirty="0"/>
          </a:p>
        </p:txBody>
      </p:sp>
      <p:pic>
        <p:nvPicPr>
          <p:cNvPr id="7" name="Image 1" descr="preencoded.png"/>
          <p:cNvPicPr>
            <a:picLocks noChangeAspect="1"/>
          </p:cNvPicPr>
          <p:nvPr/>
        </p:nvPicPr>
        <p:blipFill>
          <a:blip r:embed="rId3">
            <a:extLst>
              <a:ext uri="{96DAC541-7B7A-43D3-8B79-37D633B846F1}">
                <asvg:svgBlip xmlns="" xmlns:asvg="http://schemas.microsoft.com/office/drawing/2016/SVG/main" r:embed="rId4"/>
              </a:ext>
            </a:extLst>
          </a:blip>
          <a:stretch>
            <a:fillRect/>
          </a:stretch>
        </p:blipFill>
        <p:spPr>
          <a:xfrm>
            <a:off x="496119" y="2632174"/>
            <a:ext cx="4722763" cy="923181"/>
          </a:xfrm>
          <a:prstGeom prst="rect">
            <a:avLst/>
          </a:prstGeom>
        </p:spPr>
      </p:pic>
      <p:sp>
        <p:nvSpPr>
          <p:cNvPr id="8" name="Text 4"/>
          <p:cNvSpPr/>
          <p:nvPr/>
        </p:nvSpPr>
        <p:spPr>
          <a:xfrm>
            <a:off x="689595" y="2768501"/>
            <a:ext cx="4392960" cy="190723"/>
          </a:xfrm>
          <a:prstGeom prst="rect">
            <a:avLst/>
          </a:prstGeom>
          <a:noFill/>
          <a:ln/>
        </p:spPr>
        <p:txBody>
          <a:bodyPr wrap="none" lIns="0" tIns="0" rIns="0" bIns="0" rtlCol="0" anchor="t"/>
          <a:lstStyle/>
          <a:p>
            <a:pPr marL="0" indent="0" algn="l">
              <a:lnSpc>
                <a:spcPct val="104000"/>
              </a:lnSpc>
              <a:buNone/>
            </a:pPr>
            <a:r>
              <a:rPr lang="en-US" sz="1200" dirty="0">
                <a:solidFill>
                  <a:srgbClr val="2A2742"/>
                </a:solidFill>
                <a:latin typeface="Outfit ExtraBold" pitchFamily="34" charset="0"/>
                <a:ea typeface="Outfit ExtraBold" pitchFamily="34" charset="-122"/>
                <a:cs typeface="Outfit ExtraBold" pitchFamily="34" charset="-120"/>
              </a:rPr>
              <a:t>Absence de surveillance automatisée</a:t>
            </a:r>
            <a:endParaRPr lang="en-US" sz="1200" dirty="0"/>
          </a:p>
        </p:txBody>
      </p:sp>
      <p:sp>
        <p:nvSpPr>
          <p:cNvPr id="9" name="Text 5"/>
          <p:cNvSpPr/>
          <p:nvPr/>
        </p:nvSpPr>
        <p:spPr>
          <a:xfrm>
            <a:off x="689595" y="3031331"/>
            <a:ext cx="4392960" cy="387697"/>
          </a:xfrm>
          <a:prstGeom prst="rect">
            <a:avLst/>
          </a:prstGeom>
          <a:noFill/>
          <a:ln/>
        </p:spPr>
        <p:txBody>
          <a:bodyPr wrap="square" lIns="0" tIns="0" rIns="0" bIns="0" rtlCol="0" anchor="t">
            <a:noAutofit/>
          </a:bodyPr>
          <a:lstStyle/>
          <a:p>
            <a:pPr marL="0" indent="0" algn="just">
              <a:lnSpc>
                <a:spcPct val="132000"/>
              </a:lnSpc>
              <a:buNone/>
            </a:pPr>
            <a:r>
              <a:rPr lang="en-US" sz="1100" dirty="0">
                <a:solidFill>
                  <a:srgbClr val="2A2742"/>
                </a:solidFill>
                <a:latin typeface="Arimo" pitchFamily="34" charset="0"/>
                <a:ea typeface="Arimo" pitchFamily="34" charset="-122"/>
                <a:cs typeface="Arimo" pitchFamily="34" charset="-120"/>
              </a:rPr>
              <a:t>La majorité des banques locales ne disposent d'aucun système automatisé pour surveiller les transactions en temps réel.</a:t>
            </a:r>
            <a:endParaRPr lang="en-US" sz="1100" dirty="0"/>
          </a:p>
        </p:txBody>
      </p:sp>
      <p:pic>
        <p:nvPicPr>
          <p:cNvPr id="10" name="Image 2" descr="preencoded.png"/>
          <p:cNvPicPr>
            <a:picLocks noChangeAspect="1"/>
          </p:cNvPicPr>
          <p:nvPr/>
        </p:nvPicPr>
        <p:blipFill>
          <a:blip r:embed="rId5">
            <a:extLst>
              <a:ext uri="{96DAC541-7B7A-43D3-8B79-37D633B846F1}">
                <asvg:svgBlip xmlns="" xmlns:asvg="http://schemas.microsoft.com/office/drawing/2016/SVG/main" r:embed="rId6"/>
              </a:ext>
            </a:extLst>
          </a:blip>
          <a:stretch>
            <a:fillRect/>
          </a:stretch>
        </p:blipFill>
        <p:spPr>
          <a:xfrm>
            <a:off x="496119" y="3675534"/>
            <a:ext cx="4722763" cy="1117029"/>
          </a:xfrm>
          <a:prstGeom prst="rect">
            <a:avLst/>
          </a:prstGeom>
        </p:spPr>
      </p:pic>
      <p:sp>
        <p:nvSpPr>
          <p:cNvPr id="11" name="Text 6"/>
          <p:cNvSpPr/>
          <p:nvPr/>
        </p:nvSpPr>
        <p:spPr>
          <a:xfrm>
            <a:off x="689595" y="3811860"/>
            <a:ext cx="4392960" cy="190723"/>
          </a:xfrm>
          <a:prstGeom prst="rect">
            <a:avLst/>
          </a:prstGeom>
          <a:noFill/>
          <a:ln/>
        </p:spPr>
        <p:txBody>
          <a:bodyPr wrap="none" lIns="0" tIns="0" rIns="0" bIns="0" rtlCol="0" anchor="t"/>
          <a:lstStyle/>
          <a:p>
            <a:pPr marL="0" indent="0" algn="l">
              <a:lnSpc>
                <a:spcPct val="104000"/>
              </a:lnSpc>
              <a:buNone/>
            </a:pPr>
            <a:r>
              <a:rPr lang="en-US" sz="1200" dirty="0">
                <a:solidFill>
                  <a:srgbClr val="2A2742"/>
                </a:solidFill>
                <a:latin typeface="Outfit ExtraBold" pitchFamily="34" charset="0"/>
                <a:ea typeface="Outfit ExtraBold" pitchFamily="34" charset="-122"/>
                <a:cs typeface="Outfit ExtraBold" pitchFamily="34" charset="-120"/>
              </a:rPr>
              <a:t>Méthodes traditionnelles inopérantes</a:t>
            </a:r>
            <a:endParaRPr lang="en-US" sz="1200" dirty="0"/>
          </a:p>
        </p:txBody>
      </p:sp>
      <p:sp>
        <p:nvSpPr>
          <p:cNvPr id="12" name="Text 7"/>
          <p:cNvSpPr/>
          <p:nvPr/>
        </p:nvSpPr>
        <p:spPr>
          <a:xfrm>
            <a:off x="689595" y="4074691"/>
            <a:ext cx="4392960" cy="581546"/>
          </a:xfrm>
          <a:prstGeom prst="rect">
            <a:avLst/>
          </a:prstGeom>
          <a:noFill/>
          <a:ln/>
        </p:spPr>
        <p:txBody>
          <a:bodyPr wrap="square" lIns="0" tIns="0" rIns="0" bIns="0" rtlCol="0" anchor="t">
            <a:noAutofit/>
          </a:bodyPr>
          <a:lstStyle/>
          <a:p>
            <a:pPr marL="0" indent="0" algn="just">
              <a:lnSpc>
                <a:spcPct val="132000"/>
              </a:lnSpc>
              <a:buNone/>
            </a:pPr>
            <a:r>
              <a:rPr lang="en-US" sz="1100" dirty="0">
                <a:solidFill>
                  <a:srgbClr val="2A2742"/>
                </a:solidFill>
                <a:latin typeface="Arimo" pitchFamily="34" charset="0"/>
                <a:ea typeface="Arimo" pitchFamily="34" charset="-122"/>
                <a:cs typeface="Arimo" pitchFamily="34" charset="-120"/>
              </a:rPr>
              <a:t>Avec un taux de fraude dans les transactions bancaires et une absence totale d'historique de fraudes étiquetées localement, les méthodes classiques de détection sont inefficaces.</a:t>
            </a:r>
            <a:endParaRPr lang="en-US" sz="1100" dirty="0"/>
          </a:p>
        </p:txBody>
      </p:sp>
      <p:pic>
        <p:nvPicPr>
          <p:cNvPr id="13" name="Image 0" descr="preencoded.png"/>
          <p:cNvPicPr>
            <a:picLocks noChangeAspect="1"/>
          </p:cNvPicPr>
          <p:nvPr/>
        </p:nvPicPr>
        <p:blipFill rotWithShape="1">
          <a:blip r:embed="rId7"/>
          <a:srcRect l="18609" t="34010" r="35478"/>
          <a:stretch/>
        </p:blipFill>
        <p:spPr>
          <a:xfrm>
            <a:off x="6353092" y="0"/>
            <a:ext cx="2790908" cy="5143499"/>
          </a:xfrm>
          <a:prstGeom prst="rect">
            <a:avLst/>
          </a:prstGeom>
        </p:spPr>
      </p:pic>
    </p:spTree>
    <p:extLst>
      <p:ext uri="{BB962C8B-B14F-4D97-AF65-F5344CB8AC3E}">
        <p14:creationId xmlns:p14="http://schemas.microsoft.com/office/powerpoint/2010/main" val="151477103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502434" y="1401514"/>
            <a:ext cx="1952161" cy="385790"/>
          </a:xfrm>
          <a:prstGeom prst="rect">
            <a:avLst/>
          </a:prstGeom>
          <a:noFill/>
          <a:ln/>
        </p:spPr>
        <p:txBody>
          <a:bodyPr wrap="none" lIns="0" tIns="0" rIns="0" bIns="0" rtlCol="0" anchor="t"/>
          <a:lstStyle/>
          <a:p>
            <a:pPr>
              <a:lnSpc>
                <a:spcPct val="104000"/>
              </a:lnSpc>
            </a:pPr>
            <a:r>
              <a:rPr lang="en-US" sz="2050" dirty="0" smtClean="0">
                <a:solidFill>
                  <a:srgbClr val="231971"/>
                </a:solidFill>
                <a:latin typeface="Outfit ExtraBold" pitchFamily="34" charset="0"/>
                <a:ea typeface="Outfit ExtraBold" pitchFamily="34" charset="-122"/>
                <a:cs typeface="Outfit ExtraBold" pitchFamily="34" charset="-120"/>
              </a:rPr>
              <a:t>PROBLÉMATIQUE</a:t>
            </a:r>
            <a:endParaRPr lang="en-US" sz="2050" dirty="0"/>
          </a:p>
        </p:txBody>
      </p:sp>
      <p:sp>
        <p:nvSpPr>
          <p:cNvPr id="8" name="Shape 5"/>
          <p:cNvSpPr/>
          <p:nvPr/>
        </p:nvSpPr>
        <p:spPr>
          <a:xfrm>
            <a:off x="286246" y="2099144"/>
            <a:ext cx="8563555" cy="1057524"/>
          </a:xfrm>
          <a:prstGeom prst="roundRect">
            <a:avLst>
              <a:gd name="adj" fmla="val 7242"/>
            </a:avLst>
          </a:prstGeom>
          <a:solidFill>
            <a:srgbClr val="E9E6FA"/>
          </a:solidFill>
          <a:ln w="4763">
            <a:solidFill>
              <a:srgbClr val="BDB8DF"/>
            </a:solidFill>
            <a:prstDash val="solid"/>
          </a:ln>
        </p:spPr>
      </p:sp>
      <p:sp>
        <p:nvSpPr>
          <p:cNvPr id="10" name="Text 4"/>
          <p:cNvSpPr/>
          <p:nvPr/>
        </p:nvSpPr>
        <p:spPr>
          <a:xfrm>
            <a:off x="389614" y="2227178"/>
            <a:ext cx="8340917" cy="659146"/>
          </a:xfrm>
          <a:prstGeom prst="rect">
            <a:avLst/>
          </a:prstGeom>
          <a:noFill/>
          <a:ln/>
        </p:spPr>
        <p:txBody>
          <a:bodyPr wrap="square" lIns="0" tIns="0" rIns="0" bIns="0" rtlCol="0" anchor="t">
            <a:noAutofit/>
          </a:bodyPr>
          <a:lstStyle/>
          <a:p>
            <a:pPr algn="just">
              <a:lnSpc>
                <a:spcPct val="150000"/>
              </a:lnSpc>
            </a:pPr>
            <a:r>
              <a:rPr lang="fr-FR" sz="1200" dirty="0">
                <a:latin typeface="Arimo" panose="020B0604020202020204" charset="0"/>
                <a:ea typeface="Arimo" panose="020B0604020202020204" charset="0"/>
                <a:cs typeface="Arimo" panose="020B0604020202020204" charset="0"/>
              </a:rPr>
              <a:t>Comment concilier une approche d'audit descriptive rapide (Business Intelligence) avec des algorithmes d'apprentissage non supervisé avancés (Machine Learning) pour minimiser les pertes financières tout en évitant de bloquer les clients légitimes ?</a:t>
            </a:r>
          </a:p>
        </p:txBody>
      </p:sp>
    </p:spTree>
    <p:extLst>
      <p:ext uri="{BB962C8B-B14F-4D97-AF65-F5344CB8AC3E}">
        <p14:creationId xmlns:p14="http://schemas.microsoft.com/office/powerpoint/2010/main" val="514714869"/>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33648" y="304938"/>
            <a:ext cx="2140722" cy="395378"/>
          </a:xfrm>
          <a:prstGeom prst="roundRect">
            <a:avLst>
              <a:gd name="adj" fmla="val 22104"/>
            </a:avLst>
          </a:prstGeom>
          <a:solidFill>
            <a:srgbClr val="D7D2F9"/>
          </a:solidFill>
          <a:ln/>
        </p:spPr>
      </p:sp>
      <p:sp>
        <p:nvSpPr>
          <p:cNvPr id="3" name="Text 1"/>
          <p:cNvSpPr/>
          <p:nvPr/>
        </p:nvSpPr>
        <p:spPr>
          <a:xfrm>
            <a:off x="624855" y="413758"/>
            <a:ext cx="1817243" cy="239348"/>
          </a:xfrm>
          <a:prstGeom prst="rect">
            <a:avLst/>
          </a:prstGeom>
          <a:noFill/>
          <a:ln/>
        </p:spPr>
        <p:txBody>
          <a:bodyPr wrap="none" lIns="0" tIns="0" rIns="0" bIns="0" rtlCol="0" anchor="t"/>
          <a:lstStyle/>
          <a:p>
            <a:pPr marL="0" indent="0" algn="l">
              <a:lnSpc>
                <a:spcPct val="96000"/>
              </a:lnSpc>
              <a:buNone/>
            </a:pPr>
            <a:r>
              <a:rPr lang="en-US" sz="1200" b="1" dirty="0">
                <a:solidFill>
                  <a:srgbClr val="2A2742"/>
                </a:solidFill>
                <a:latin typeface="Arimo" pitchFamily="34" charset="0"/>
                <a:ea typeface="Arimo" pitchFamily="34" charset="-122"/>
                <a:cs typeface="Arimo" pitchFamily="34" charset="-120"/>
              </a:rPr>
              <a:t>SOLUTION PROPOSÉE</a:t>
            </a:r>
            <a:endParaRPr lang="en-US" sz="1200" b="1" dirty="0"/>
          </a:p>
        </p:txBody>
      </p:sp>
      <p:sp>
        <p:nvSpPr>
          <p:cNvPr id="4" name="Text 2"/>
          <p:cNvSpPr/>
          <p:nvPr/>
        </p:nvSpPr>
        <p:spPr>
          <a:xfrm>
            <a:off x="496119" y="802709"/>
            <a:ext cx="8151763" cy="387548"/>
          </a:xfrm>
          <a:prstGeom prst="rect">
            <a:avLst/>
          </a:prstGeom>
          <a:noFill/>
          <a:ln/>
        </p:spPr>
        <p:txBody>
          <a:bodyPr wrap="none" lIns="0" tIns="0" rIns="0" bIns="0" rtlCol="0" anchor="t"/>
          <a:lstStyle/>
          <a:p>
            <a:pPr marL="0" indent="0" algn="l">
              <a:lnSpc>
                <a:spcPct val="104000"/>
              </a:lnSpc>
              <a:buNone/>
            </a:pPr>
            <a:r>
              <a:rPr lang="en-US" sz="2000" dirty="0" smtClean="0">
                <a:solidFill>
                  <a:srgbClr val="231971"/>
                </a:solidFill>
                <a:latin typeface="Outfit ExtraBold" pitchFamily="34" charset="0"/>
                <a:ea typeface="Outfit ExtraBold" pitchFamily="34" charset="-122"/>
                <a:cs typeface="Outfit ExtraBold" pitchFamily="34" charset="-120"/>
              </a:rPr>
              <a:t>MACHINE LEARNING NON SUPERVISÉ : NOTRE APPROCHE</a:t>
            </a:r>
            <a:endParaRPr lang="en-US" sz="2000" dirty="0"/>
          </a:p>
        </p:txBody>
      </p:sp>
      <p:sp>
        <p:nvSpPr>
          <p:cNvPr id="5" name="Text 3"/>
          <p:cNvSpPr/>
          <p:nvPr/>
        </p:nvSpPr>
        <p:spPr>
          <a:xfrm>
            <a:off x="496119" y="1259421"/>
            <a:ext cx="8151763" cy="1017248"/>
          </a:xfrm>
          <a:prstGeom prst="rect">
            <a:avLst/>
          </a:prstGeom>
          <a:noFill/>
          <a:ln/>
        </p:spPr>
        <p:txBody>
          <a:bodyPr wrap="square" lIns="0" tIns="0" rIns="0" bIns="0" rtlCol="0" anchor="t">
            <a:noAutofit/>
          </a:bodyPr>
          <a:lstStyle/>
          <a:p>
            <a:pPr marL="0" indent="0" algn="just">
              <a:lnSpc>
                <a:spcPct val="150000"/>
              </a:lnSpc>
              <a:buNone/>
            </a:pPr>
            <a:r>
              <a:rPr lang="en-US" sz="1200" dirty="0">
                <a:solidFill>
                  <a:srgbClr val="2A2742"/>
                </a:solidFill>
                <a:latin typeface="Arimo" pitchFamily="34" charset="0"/>
                <a:ea typeface="Arimo" pitchFamily="34" charset="-122"/>
                <a:cs typeface="Arimo" pitchFamily="34" charset="-120"/>
              </a:rPr>
              <a:t>Notre équipe a conçu une preuve de concept reposant sur le </a:t>
            </a:r>
            <a:r>
              <a:rPr lang="en-US" sz="1200" dirty="0">
                <a:solidFill>
                  <a:srgbClr val="2A2742"/>
                </a:solidFill>
                <a:latin typeface="Arimo Bold" pitchFamily="34" charset="0"/>
                <a:ea typeface="Arimo Bold" pitchFamily="34" charset="-122"/>
                <a:cs typeface="Arimo Bold" pitchFamily="34" charset="-120"/>
              </a:rPr>
              <a:t>Machine Learning non supervi</a:t>
            </a:r>
            <a:r>
              <a:rPr lang="en-US" sz="1200" b="1" dirty="0">
                <a:solidFill>
                  <a:srgbClr val="2A2742"/>
                </a:solidFill>
                <a:latin typeface="Arimo Bold" pitchFamily="34" charset="0"/>
                <a:ea typeface="Arimo Bold" pitchFamily="34" charset="-122"/>
                <a:cs typeface="Arimo Bold" pitchFamily="34" charset="-120"/>
              </a:rPr>
              <a:t>sé</a:t>
            </a:r>
            <a:r>
              <a:rPr lang="en-US" sz="1200" dirty="0">
                <a:solidFill>
                  <a:srgbClr val="2A2742"/>
                </a:solidFill>
                <a:latin typeface="Arimo" pitchFamily="34" charset="0"/>
                <a:ea typeface="Arimo" pitchFamily="34" charset="-122"/>
                <a:cs typeface="Arimo" pitchFamily="34" charset="-120"/>
              </a:rPr>
              <a:t>. Sans nécessiter de données de fraudes préexistantes, le modèle apprend de façon autonome le comportement habituel des clients (montants, heures, canaux). L'architecture combine </a:t>
            </a:r>
            <a:r>
              <a:rPr lang="en-US" sz="1200" dirty="0" err="1" smtClean="0">
                <a:solidFill>
                  <a:srgbClr val="2A2742"/>
                </a:solidFill>
                <a:latin typeface="Arimo" pitchFamily="34" charset="0"/>
                <a:ea typeface="Arimo" pitchFamily="34" charset="-122"/>
                <a:cs typeface="Arimo" pitchFamily="34" charset="-120"/>
              </a:rPr>
              <a:t>deux</a:t>
            </a:r>
            <a:r>
              <a:rPr lang="en-US" sz="1200" dirty="0" smtClean="0">
                <a:solidFill>
                  <a:srgbClr val="2A2742"/>
                </a:solidFill>
                <a:latin typeface="Arimo" pitchFamily="34" charset="0"/>
                <a:ea typeface="Arimo" pitchFamily="34" charset="-122"/>
                <a:cs typeface="Arimo" pitchFamily="34" charset="-120"/>
              </a:rPr>
              <a:t> </a:t>
            </a:r>
            <a:r>
              <a:rPr lang="en-US" sz="1200" dirty="0">
                <a:solidFill>
                  <a:srgbClr val="2A2742"/>
                </a:solidFill>
                <a:latin typeface="Arimo" pitchFamily="34" charset="0"/>
                <a:ea typeface="Arimo" pitchFamily="34" charset="-122"/>
                <a:cs typeface="Arimo" pitchFamily="34" charset="-120"/>
              </a:rPr>
              <a:t>algorithmes robustes, validés sur </a:t>
            </a:r>
            <a:r>
              <a:rPr lang="en-US" sz="1200" dirty="0">
                <a:solidFill>
                  <a:srgbClr val="2A2742"/>
                </a:solidFill>
                <a:latin typeface="Arimo Bold" pitchFamily="34" charset="0"/>
                <a:ea typeface="Arimo Bold" pitchFamily="34" charset="-122"/>
                <a:cs typeface="Arimo Bold" pitchFamily="34" charset="-120"/>
              </a:rPr>
              <a:t>550 000 transactions bancaires</a:t>
            </a:r>
            <a:r>
              <a:rPr lang="en-US" sz="1200" dirty="0">
                <a:solidFill>
                  <a:srgbClr val="2A2742"/>
                </a:solidFill>
                <a:latin typeface="Arimo" pitchFamily="34" charset="0"/>
                <a:ea typeface="Arimo" pitchFamily="34" charset="-122"/>
                <a:cs typeface="Arimo" pitchFamily="34" charset="-120"/>
              </a:rPr>
              <a:t>, et alimente un tableau de bord Power BI.</a:t>
            </a:r>
            <a:endParaRPr lang="en-US" sz="1200" dirty="0"/>
          </a:p>
        </p:txBody>
      </p:sp>
      <p:sp>
        <p:nvSpPr>
          <p:cNvPr id="6" name="Shape 4"/>
          <p:cNvSpPr/>
          <p:nvPr/>
        </p:nvSpPr>
        <p:spPr>
          <a:xfrm>
            <a:off x="496119" y="2437209"/>
            <a:ext cx="2634555" cy="1815629"/>
          </a:xfrm>
          <a:prstGeom prst="roundRect">
            <a:avLst>
              <a:gd name="adj" fmla="val 2870"/>
            </a:avLst>
          </a:prstGeom>
          <a:solidFill>
            <a:srgbClr val="E9E6FA"/>
          </a:solidFill>
          <a:ln w="4763">
            <a:solidFill>
              <a:srgbClr val="BDB8DF"/>
            </a:solidFill>
            <a:prstDash val="solid"/>
          </a:ln>
        </p:spPr>
      </p:sp>
      <p:sp>
        <p:nvSpPr>
          <p:cNvPr id="7" name="Shape 5"/>
          <p:cNvSpPr/>
          <p:nvPr/>
        </p:nvSpPr>
        <p:spPr>
          <a:xfrm>
            <a:off x="624855" y="2565946"/>
            <a:ext cx="372070" cy="372070"/>
          </a:xfrm>
          <a:prstGeom prst="ellipse">
            <a:avLst/>
          </a:prstGeom>
          <a:solidFill>
            <a:srgbClr val="5E4CE6"/>
          </a:solidFill>
          <a:ln/>
        </p:spPr>
      </p:sp>
      <p:pic>
        <p:nvPicPr>
          <p:cNvPr id="8" name="Image 0" descr="preencoded.png"/>
          <p:cNvPicPr>
            <a:picLocks noChangeAspect="1"/>
          </p:cNvPicPr>
          <p:nvPr/>
        </p:nvPicPr>
        <p:blipFill>
          <a:blip r:embed="rId3">
            <a:extLst>
              <a:ext uri="{96DAC541-7B7A-43D3-8B79-37D633B846F1}">
                <asvg:svgBlip xmlns="" xmlns:asvg="http://schemas.microsoft.com/office/drawing/2016/SVG/main" r:embed="rId4"/>
              </a:ext>
            </a:extLst>
          </a:blip>
          <a:stretch>
            <a:fillRect/>
          </a:stretch>
        </p:blipFill>
        <p:spPr>
          <a:xfrm>
            <a:off x="727174" y="2668191"/>
            <a:ext cx="167432" cy="167432"/>
          </a:xfrm>
          <a:prstGeom prst="rect">
            <a:avLst/>
          </a:prstGeom>
        </p:spPr>
      </p:pic>
      <p:sp>
        <p:nvSpPr>
          <p:cNvPr id="9" name="Text 6"/>
          <p:cNvSpPr/>
          <p:nvPr/>
        </p:nvSpPr>
        <p:spPr>
          <a:xfrm>
            <a:off x="624855" y="3061990"/>
            <a:ext cx="2377083" cy="193849"/>
          </a:xfrm>
          <a:prstGeom prst="rect">
            <a:avLst/>
          </a:prstGeom>
          <a:noFill/>
          <a:ln/>
        </p:spPr>
        <p:txBody>
          <a:bodyPr wrap="none" lIns="0" tIns="0" rIns="0" bIns="0" rtlCol="0" anchor="t"/>
          <a:lstStyle/>
          <a:p>
            <a:pPr marL="0" indent="0" algn="l">
              <a:lnSpc>
                <a:spcPct val="104000"/>
              </a:lnSpc>
              <a:buNone/>
            </a:pPr>
            <a:r>
              <a:rPr lang="en-US" sz="1200" dirty="0">
                <a:solidFill>
                  <a:srgbClr val="2A2742"/>
                </a:solidFill>
                <a:latin typeface="Outfit ExtraBold" pitchFamily="34" charset="0"/>
                <a:ea typeface="Outfit ExtraBold" pitchFamily="34" charset="-122"/>
                <a:cs typeface="Outfit ExtraBold" pitchFamily="34" charset="-120"/>
              </a:rPr>
              <a:t>Isolation Forest</a:t>
            </a:r>
            <a:endParaRPr lang="en-US" sz="1200" dirty="0"/>
          </a:p>
        </p:txBody>
      </p:sp>
      <p:sp>
        <p:nvSpPr>
          <p:cNvPr id="10" name="Text 7"/>
          <p:cNvSpPr/>
          <p:nvPr/>
        </p:nvSpPr>
        <p:spPr>
          <a:xfrm>
            <a:off x="624855" y="3330253"/>
            <a:ext cx="2377083" cy="793849"/>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2A2742"/>
                </a:solidFill>
                <a:latin typeface="Arimo" pitchFamily="34" charset="0"/>
                <a:ea typeface="Arimo" pitchFamily="34" charset="-122"/>
                <a:cs typeface="Arimo" pitchFamily="34" charset="-120"/>
              </a:rPr>
              <a:t>Isole les </a:t>
            </a:r>
            <a:r>
              <a:rPr lang="en-US" sz="950" dirty="0" smtClean="0">
                <a:solidFill>
                  <a:srgbClr val="2A2742"/>
                </a:solidFill>
                <a:latin typeface="Arimo" pitchFamily="34" charset="0"/>
                <a:ea typeface="Arimo" pitchFamily="34" charset="-122"/>
                <a:cs typeface="Arimo" pitchFamily="34" charset="-120"/>
              </a:rPr>
              <a:t>anomalies</a:t>
            </a:r>
            <a:endParaRPr lang="en-US" sz="950" dirty="0"/>
          </a:p>
        </p:txBody>
      </p:sp>
      <p:sp>
        <p:nvSpPr>
          <p:cNvPr id="11" name="Shape 8"/>
          <p:cNvSpPr/>
          <p:nvPr/>
        </p:nvSpPr>
        <p:spPr>
          <a:xfrm>
            <a:off x="3254648" y="2437209"/>
            <a:ext cx="2634630" cy="1815629"/>
          </a:xfrm>
          <a:prstGeom prst="roundRect">
            <a:avLst>
              <a:gd name="adj" fmla="val 2870"/>
            </a:avLst>
          </a:prstGeom>
          <a:solidFill>
            <a:srgbClr val="E9E6FA"/>
          </a:solidFill>
          <a:ln w="4763">
            <a:solidFill>
              <a:srgbClr val="BDB8DF"/>
            </a:solidFill>
            <a:prstDash val="solid"/>
          </a:ln>
        </p:spPr>
      </p:sp>
      <p:sp>
        <p:nvSpPr>
          <p:cNvPr id="12" name="Shape 9"/>
          <p:cNvSpPr/>
          <p:nvPr/>
        </p:nvSpPr>
        <p:spPr>
          <a:xfrm>
            <a:off x="3383384" y="2565946"/>
            <a:ext cx="372070" cy="372070"/>
          </a:xfrm>
          <a:prstGeom prst="ellipse">
            <a:avLst/>
          </a:prstGeom>
          <a:solidFill>
            <a:srgbClr val="5E4CE6"/>
          </a:solidFill>
          <a:ln/>
        </p:spPr>
      </p:sp>
      <p:pic>
        <p:nvPicPr>
          <p:cNvPr id="13" name="Image 1" descr="preencoded.png"/>
          <p:cNvPicPr>
            <a:picLocks noChangeAspect="1"/>
          </p:cNvPicPr>
          <p:nvPr/>
        </p:nvPicPr>
        <p:blipFill>
          <a:blip r:embed="rId5">
            <a:extLst>
              <a:ext uri="{96DAC541-7B7A-43D3-8B79-37D633B846F1}">
                <asvg:svgBlip xmlns="" xmlns:asvg="http://schemas.microsoft.com/office/drawing/2016/SVG/main" r:embed="rId6"/>
              </a:ext>
            </a:extLst>
          </a:blip>
          <a:stretch>
            <a:fillRect/>
          </a:stretch>
        </p:blipFill>
        <p:spPr>
          <a:xfrm>
            <a:off x="3485704" y="2668191"/>
            <a:ext cx="167432" cy="167432"/>
          </a:xfrm>
          <a:prstGeom prst="rect">
            <a:avLst/>
          </a:prstGeom>
        </p:spPr>
      </p:pic>
      <p:sp>
        <p:nvSpPr>
          <p:cNvPr id="14" name="Text 10"/>
          <p:cNvSpPr/>
          <p:nvPr/>
        </p:nvSpPr>
        <p:spPr>
          <a:xfrm>
            <a:off x="3383384" y="3061990"/>
            <a:ext cx="2377157" cy="193849"/>
          </a:xfrm>
          <a:prstGeom prst="rect">
            <a:avLst/>
          </a:prstGeom>
          <a:noFill/>
          <a:ln/>
        </p:spPr>
        <p:txBody>
          <a:bodyPr wrap="none" lIns="0" tIns="0" rIns="0" bIns="0" rtlCol="0" anchor="t"/>
          <a:lstStyle/>
          <a:p>
            <a:pPr marL="0" indent="0" algn="l">
              <a:lnSpc>
                <a:spcPct val="104000"/>
              </a:lnSpc>
              <a:buNone/>
            </a:pPr>
            <a:r>
              <a:rPr lang="en-US" sz="1200" dirty="0">
                <a:solidFill>
                  <a:srgbClr val="2A2742"/>
                </a:solidFill>
                <a:latin typeface="Outfit ExtraBold" pitchFamily="34" charset="0"/>
                <a:ea typeface="Outfit ExtraBold" pitchFamily="34" charset="-122"/>
                <a:cs typeface="Outfit ExtraBold" pitchFamily="34" charset="-120"/>
              </a:rPr>
              <a:t>DBSCAN</a:t>
            </a:r>
            <a:endParaRPr lang="en-US" sz="1200" dirty="0"/>
          </a:p>
        </p:txBody>
      </p:sp>
      <p:sp>
        <p:nvSpPr>
          <p:cNvPr id="15" name="Text 11"/>
          <p:cNvSpPr/>
          <p:nvPr/>
        </p:nvSpPr>
        <p:spPr>
          <a:xfrm>
            <a:off x="3383384" y="3330253"/>
            <a:ext cx="2377157" cy="396925"/>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2A2742"/>
                </a:solidFill>
                <a:latin typeface="Arimo" pitchFamily="34" charset="0"/>
                <a:ea typeface="Arimo" pitchFamily="34" charset="-122"/>
                <a:cs typeface="Arimo" pitchFamily="34" charset="-120"/>
              </a:rPr>
              <a:t>Approche par densité géométrique pour l'identification du bruit et validation croisée.</a:t>
            </a:r>
            <a:endParaRPr lang="en-US" sz="950" dirty="0"/>
          </a:p>
        </p:txBody>
      </p:sp>
      <p:sp>
        <p:nvSpPr>
          <p:cNvPr id="16" name="Shape 12"/>
          <p:cNvSpPr/>
          <p:nvPr/>
        </p:nvSpPr>
        <p:spPr>
          <a:xfrm>
            <a:off x="6013252" y="2437209"/>
            <a:ext cx="2634555" cy="1815629"/>
          </a:xfrm>
          <a:prstGeom prst="roundRect">
            <a:avLst>
              <a:gd name="adj" fmla="val 2870"/>
            </a:avLst>
          </a:prstGeom>
          <a:solidFill>
            <a:srgbClr val="E9E6FA"/>
          </a:solidFill>
          <a:ln w="4763">
            <a:solidFill>
              <a:srgbClr val="BDB8DF"/>
            </a:solidFill>
            <a:prstDash val="solid"/>
          </a:ln>
        </p:spPr>
      </p:sp>
      <p:sp>
        <p:nvSpPr>
          <p:cNvPr id="17" name="Shape 13"/>
          <p:cNvSpPr/>
          <p:nvPr/>
        </p:nvSpPr>
        <p:spPr>
          <a:xfrm>
            <a:off x="6141988" y="2565946"/>
            <a:ext cx="372070" cy="372070"/>
          </a:xfrm>
          <a:prstGeom prst="ellipse">
            <a:avLst/>
          </a:prstGeom>
          <a:solidFill>
            <a:srgbClr val="5E4CE6"/>
          </a:solidFill>
          <a:ln/>
        </p:spPr>
      </p:sp>
      <p:pic>
        <p:nvPicPr>
          <p:cNvPr id="18" name="Image 2" descr="preencoded.png"/>
          <p:cNvPicPr>
            <a:picLocks noChangeAspect="1"/>
          </p:cNvPicPr>
          <p:nvPr/>
        </p:nvPicPr>
        <p:blipFill>
          <a:blip r:embed="rId7">
            <a:extLst>
              <a:ext uri="{96DAC541-7B7A-43D3-8B79-37D633B846F1}">
                <asvg:svgBlip xmlns="" xmlns:asvg="http://schemas.microsoft.com/office/drawing/2016/SVG/main" r:embed="rId8"/>
              </a:ext>
            </a:extLst>
          </a:blip>
          <a:stretch>
            <a:fillRect/>
          </a:stretch>
        </p:blipFill>
        <p:spPr>
          <a:xfrm>
            <a:off x="6244307" y="2668191"/>
            <a:ext cx="167432" cy="167432"/>
          </a:xfrm>
          <a:prstGeom prst="rect">
            <a:avLst/>
          </a:prstGeom>
        </p:spPr>
      </p:pic>
      <p:sp>
        <p:nvSpPr>
          <p:cNvPr id="19" name="Text 14"/>
          <p:cNvSpPr/>
          <p:nvPr/>
        </p:nvSpPr>
        <p:spPr>
          <a:xfrm>
            <a:off x="6141988" y="3061990"/>
            <a:ext cx="2377083" cy="193849"/>
          </a:xfrm>
          <a:prstGeom prst="rect">
            <a:avLst/>
          </a:prstGeom>
          <a:noFill/>
          <a:ln/>
        </p:spPr>
        <p:txBody>
          <a:bodyPr wrap="none" lIns="0" tIns="0" rIns="0" bIns="0" rtlCol="0" anchor="t"/>
          <a:lstStyle/>
          <a:p>
            <a:pPr marL="0" indent="0" algn="l">
              <a:lnSpc>
                <a:spcPct val="104000"/>
              </a:lnSpc>
              <a:buNone/>
            </a:pPr>
            <a:r>
              <a:rPr lang="en-US" sz="1200" dirty="0">
                <a:solidFill>
                  <a:srgbClr val="2A2742"/>
                </a:solidFill>
                <a:latin typeface="Outfit ExtraBold" pitchFamily="34" charset="0"/>
                <a:ea typeface="Outfit ExtraBold" pitchFamily="34" charset="-122"/>
                <a:cs typeface="Outfit ExtraBold" pitchFamily="34" charset="-120"/>
              </a:rPr>
              <a:t>AFDM + Power BI</a:t>
            </a:r>
            <a:endParaRPr lang="en-US" sz="1200" dirty="0"/>
          </a:p>
        </p:txBody>
      </p:sp>
      <p:sp>
        <p:nvSpPr>
          <p:cNvPr id="20" name="Text 15"/>
          <p:cNvSpPr/>
          <p:nvPr/>
        </p:nvSpPr>
        <p:spPr>
          <a:xfrm>
            <a:off x="6141988" y="3330253"/>
            <a:ext cx="2377083" cy="595387"/>
          </a:xfrm>
          <a:prstGeom prst="rect">
            <a:avLst/>
          </a:prstGeom>
          <a:noFill/>
          <a:ln/>
        </p:spPr>
        <p:txBody>
          <a:bodyPr wrap="square" lIns="0" tIns="0" rIns="0" bIns="0" rtlCol="0" anchor="t">
            <a:normAutofit/>
          </a:bodyPr>
          <a:lstStyle/>
          <a:p>
            <a:pPr marL="0" indent="0" algn="l">
              <a:lnSpc>
                <a:spcPct val="133000"/>
              </a:lnSpc>
              <a:buNone/>
            </a:pPr>
            <a:r>
              <a:rPr lang="en-US" sz="950" dirty="0">
                <a:solidFill>
                  <a:srgbClr val="2A2742"/>
                </a:solidFill>
                <a:latin typeface="Arimo" pitchFamily="34" charset="0"/>
                <a:ea typeface="Arimo" pitchFamily="34" charset="-122"/>
                <a:cs typeface="Arimo" pitchFamily="34" charset="-120"/>
              </a:rPr>
              <a:t>Classement des anomalies selon 3 niveaux de risque (Faible, Moyen, Élevé) et visualisation interactive des indicateurs.</a:t>
            </a:r>
            <a:endParaRPr lang="en-US" sz="950" dirty="0"/>
          </a:p>
        </p:txBody>
      </p:sp>
    </p:spTree>
    <p:extLst>
      <p:ext uri="{BB962C8B-B14F-4D97-AF65-F5344CB8AC3E}">
        <p14:creationId xmlns:p14="http://schemas.microsoft.com/office/powerpoint/2010/main" val="372615477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191319" y="692909"/>
            <a:ext cx="8181156" cy="352946"/>
          </a:xfrm>
          <a:prstGeom prst="rect">
            <a:avLst/>
          </a:prstGeom>
          <a:noFill/>
          <a:ln/>
        </p:spPr>
        <p:txBody>
          <a:bodyPr wrap="none" lIns="0" tIns="0" rIns="0" bIns="0" rtlCol="0" anchor="t"/>
          <a:lstStyle/>
          <a:p>
            <a:pPr>
              <a:lnSpc>
                <a:spcPct val="104000"/>
              </a:lnSpc>
            </a:pPr>
            <a:r>
              <a:rPr lang="en-US" sz="2000" dirty="0" smtClean="0">
                <a:solidFill>
                  <a:srgbClr val="231971"/>
                </a:solidFill>
                <a:latin typeface="Outfit ExtraBold" pitchFamily="34" charset="0"/>
                <a:ea typeface="Outfit ExtraBold" pitchFamily="34" charset="-122"/>
                <a:cs typeface="Outfit ExtraBold" pitchFamily="34" charset="-120"/>
              </a:rPr>
              <a:t>JEU DE DONNÉES - INDIAN BANKING TRANSACTIONS DATASET </a:t>
            </a:r>
            <a:endParaRPr lang="en-US" sz="2000" dirty="0"/>
          </a:p>
        </p:txBody>
      </p:sp>
      <p:sp>
        <p:nvSpPr>
          <p:cNvPr id="4" name="Text 1"/>
          <p:cNvSpPr/>
          <p:nvPr/>
        </p:nvSpPr>
        <p:spPr>
          <a:xfrm>
            <a:off x="5978649" y="2535362"/>
            <a:ext cx="2673921" cy="176510"/>
          </a:xfrm>
          <a:prstGeom prst="rect">
            <a:avLst/>
          </a:prstGeom>
          <a:noFill/>
          <a:ln/>
        </p:spPr>
        <p:txBody>
          <a:bodyPr wrap="none" lIns="0" tIns="0" rIns="0" bIns="0" rtlCol="0" anchor="t"/>
          <a:lstStyle/>
          <a:p>
            <a:pPr marL="0" indent="0" algn="l">
              <a:lnSpc>
                <a:spcPct val="104000"/>
              </a:lnSpc>
              <a:buNone/>
            </a:pPr>
            <a:r>
              <a:rPr lang="en-US" sz="1100" dirty="0">
                <a:solidFill>
                  <a:srgbClr val="231971"/>
                </a:solidFill>
                <a:latin typeface="Outfit ExtraBold" pitchFamily="34" charset="0"/>
                <a:ea typeface="Outfit ExtraBold" pitchFamily="34" charset="-122"/>
                <a:cs typeface="Outfit ExtraBold" pitchFamily="34" charset="-120"/>
              </a:rPr>
              <a:t>550 000 </a:t>
            </a:r>
            <a:r>
              <a:rPr lang="en-US" sz="1400" dirty="0">
                <a:solidFill>
                  <a:srgbClr val="231971"/>
                </a:solidFill>
                <a:latin typeface="Outfit ExtraBold" pitchFamily="34" charset="0"/>
                <a:ea typeface="Outfit ExtraBold" pitchFamily="34" charset="-122"/>
                <a:cs typeface="Outfit ExtraBold" pitchFamily="34" charset="-120"/>
              </a:rPr>
              <a:t>transactions</a:t>
            </a:r>
            <a:r>
              <a:rPr lang="en-US" sz="1100" dirty="0">
                <a:solidFill>
                  <a:srgbClr val="231971"/>
                </a:solidFill>
                <a:latin typeface="Outfit ExtraBold" pitchFamily="34" charset="0"/>
                <a:ea typeface="Outfit ExtraBold" pitchFamily="34" charset="-122"/>
                <a:cs typeface="Outfit ExtraBold" pitchFamily="34" charset="-120"/>
              </a:rPr>
              <a:t> </a:t>
            </a:r>
            <a:r>
              <a:rPr lang="en-US" sz="1100" dirty="0" smtClean="0">
                <a:solidFill>
                  <a:srgbClr val="231971"/>
                </a:solidFill>
                <a:latin typeface="Outfit ExtraBold" pitchFamily="34" charset="0"/>
                <a:ea typeface="Outfit ExtraBold" pitchFamily="34" charset="-122"/>
                <a:cs typeface="Outfit ExtraBold" pitchFamily="34" charset="-120"/>
              </a:rPr>
              <a:t>- </a:t>
            </a:r>
            <a:r>
              <a:rPr lang="en-US" sz="1100" dirty="0">
                <a:solidFill>
                  <a:srgbClr val="231971"/>
                </a:solidFill>
                <a:latin typeface="Outfit ExtraBold" pitchFamily="34" charset="0"/>
                <a:ea typeface="Outfit ExtraBold" pitchFamily="34" charset="-122"/>
                <a:cs typeface="Outfit ExtraBold" pitchFamily="34" charset="-120"/>
              </a:rPr>
              <a:t>2019 à 2024</a:t>
            </a:r>
            <a:endParaRPr lang="en-US" sz="1100" dirty="0"/>
          </a:p>
        </p:txBody>
      </p:sp>
      <p:sp>
        <p:nvSpPr>
          <p:cNvPr id="5" name="Text 2"/>
          <p:cNvSpPr/>
          <p:nvPr/>
        </p:nvSpPr>
        <p:spPr>
          <a:xfrm>
            <a:off x="5978649" y="2795325"/>
            <a:ext cx="2673921" cy="811857"/>
          </a:xfrm>
          <a:prstGeom prst="rect">
            <a:avLst/>
          </a:prstGeom>
          <a:noFill/>
          <a:ln/>
        </p:spPr>
        <p:txBody>
          <a:bodyPr wrap="square" lIns="0" tIns="0" rIns="0" bIns="0" rtlCol="0" anchor="t">
            <a:normAutofit/>
          </a:bodyPr>
          <a:lstStyle/>
          <a:p>
            <a:pPr marL="0" indent="0" algn="just">
              <a:lnSpc>
                <a:spcPct val="150000"/>
              </a:lnSpc>
              <a:buNone/>
            </a:pPr>
            <a:r>
              <a:rPr lang="en-US" sz="1050" b="1" dirty="0">
                <a:solidFill>
                  <a:srgbClr val="2A2742"/>
                </a:solidFill>
                <a:latin typeface="Arimo" pitchFamily="34" charset="0"/>
                <a:ea typeface="Arimo" pitchFamily="34" charset="-122"/>
                <a:cs typeface="Arimo" pitchFamily="34" charset="-120"/>
              </a:rPr>
              <a:t>En l'absence de données bancaires haïtiennes publiques, le projet utilise un jeu de données proxy. </a:t>
            </a:r>
            <a:endParaRPr lang="en-US" sz="1050" b="1" dirty="0"/>
          </a:p>
        </p:txBody>
      </p:sp>
      <p:sp>
        <p:nvSpPr>
          <p:cNvPr id="18" name="Rectangle 17"/>
          <p:cNvSpPr/>
          <p:nvPr/>
        </p:nvSpPr>
        <p:spPr>
          <a:xfrm>
            <a:off x="496119" y="1285874"/>
            <a:ext cx="5114106" cy="3533776"/>
          </a:xfrm>
          <a:prstGeom prst="rect">
            <a:avLst/>
          </a:prstGeom>
          <a:blipFill dpi="0" rotWithShape="1">
            <a:blip r:embed="rId3">
              <a:extLst>
                <a:ext uri="{28A0092B-C50C-407E-A947-70E740481C1C}">
                  <a14:useLocalDpi xmlns:a14="http://schemas.microsoft.com/office/drawing/2010/main" val="0"/>
                </a:ext>
              </a:extLst>
            </a:blip>
            <a:srcRect/>
            <a:stretch>
              <a:fillRect/>
            </a:stretch>
          </a:blipFill>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fr-F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96119" y="894922"/>
            <a:ext cx="1658684" cy="234164"/>
          </a:xfrm>
          <a:prstGeom prst="roundRect">
            <a:avLst>
              <a:gd name="adj" fmla="val 22104"/>
            </a:avLst>
          </a:prstGeom>
          <a:solidFill>
            <a:srgbClr val="D7D2F9"/>
          </a:solidFill>
          <a:ln/>
        </p:spPr>
      </p:sp>
      <p:sp>
        <p:nvSpPr>
          <p:cNvPr id="3" name="Text 1"/>
          <p:cNvSpPr/>
          <p:nvPr/>
        </p:nvSpPr>
        <p:spPr>
          <a:xfrm>
            <a:off x="570533" y="932128"/>
            <a:ext cx="1671626" cy="267394"/>
          </a:xfrm>
          <a:prstGeom prst="rect">
            <a:avLst/>
          </a:prstGeom>
          <a:noFill/>
          <a:ln/>
        </p:spPr>
        <p:txBody>
          <a:bodyPr wrap="none" lIns="0" tIns="0" rIns="0" bIns="0" rtlCol="0" anchor="t"/>
          <a:lstStyle/>
          <a:p>
            <a:pPr marL="0" indent="0" algn="l">
              <a:lnSpc>
                <a:spcPct val="96000"/>
              </a:lnSpc>
              <a:buNone/>
            </a:pPr>
            <a:r>
              <a:rPr lang="en-US" sz="1200" b="1" dirty="0">
                <a:solidFill>
                  <a:srgbClr val="2A2742"/>
                </a:solidFill>
                <a:latin typeface="Arimo" pitchFamily="34" charset="0"/>
                <a:ea typeface="Arimo" pitchFamily="34" charset="-122"/>
                <a:cs typeface="Arimo" pitchFamily="34" charset="-120"/>
              </a:rPr>
              <a:t>DONNÉES </a:t>
            </a:r>
            <a:r>
              <a:rPr lang="en-US" sz="1200" b="1" dirty="0" smtClean="0">
                <a:solidFill>
                  <a:srgbClr val="2A2742"/>
                </a:solidFill>
                <a:latin typeface="Arimo" pitchFamily="34" charset="0"/>
                <a:ea typeface="Arimo" pitchFamily="34" charset="-122"/>
                <a:cs typeface="Arimo" pitchFamily="34" charset="-120"/>
              </a:rPr>
              <a:t>ET </a:t>
            </a:r>
            <a:r>
              <a:rPr lang="en-US" sz="1200" b="1" dirty="0">
                <a:solidFill>
                  <a:srgbClr val="2A2742"/>
                </a:solidFill>
                <a:latin typeface="Arimo" pitchFamily="34" charset="0"/>
                <a:ea typeface="Arimo" pitchFamily="34" charset="-122"/>
                <a:cs typeface="Arimo" pitchFamily="34" charset="-120"/>
              </a:rPr>
              <a:t>DÉFIS</a:t>
            </a:r>
            <a:endParaRPr lang="en-US" sz="1200" b="1" dirty="0"/>
          </a:p>
        </p:txBody>
      </p:sp>
      <p:sp>
        <p:nvSpPr>
          <p:cNvPr id="4" name="Text 2"/>
          <p:cNvSpPr/>
          <p:nvPr/>
        </p:nvSpPr>
        <p:spPr>
          <a:xfrm>
            <a:off x="496119" y="1411344"/>
            <a:ext cx="8151763" cy="387548"/>
          </a:xfrm>
          <a:prstGeom prst="rect">
            <a:avLst/>
          </a:prstGeom>
          <a:noFill/>
          <a:ln/>
        </p:spPr>
        <p:txBody>
          <a:bodyPr wrap="none" lIns="0" tIns="0" rIns="0" bIns="0" rtlCol="0" anchor="t"/>
          <a:lstStyle/>
          <a:p>
            <a:pPr marL="0" indent="0" algn="l">
              <a:lnSpc>
                <a:spcPct val="104000"/>
              </a:lnSpc>
              <a:buNone/>
            </a:pPr>
            <a:r>
              <a:rPr lang="en-US" sz="2400" dirty="0" smtClean="0">
                <a:solidFill>
                  <a:srgbClr val="231971"/>
                </a:solidFill>
                <a:latin typeface="Outfit ExtraBold" pitchFamily="34" charset="0"/>
                <a:ea typeface="Outfit ExtraBold" pitchFamily="34" charset="-122"/>
                <a:cs typeface="Outfit ExtraBold" pitchFamily="34" charset="-120"/>
              </a:rPr>
              <a:t>STRATÉGIE DATASET PROXY : INDIAN BANKING</a:t>
            </a:r>
            <a:endParaRPr lang="en-US" sz="2400" dirty="0"/>
          </a:p>
        </p:txBody>
      </p:sp>
      <p:sp>
        <p:nvSpPr>
          <p:cNvPr id="5" name="Shape 3"/>
          <p:cNvSpPr/>
          <p:nvPr/>
        </p:nvSpPr>
        <p:spPr>
          <a:xfrm>
            <a:off x="406822" y="2096244"/>
            <a:ext cx="4141324" cy="2300827"/>
          </a:xfrm>
          <a:prstGeom prst="roundRect">
            <a:avLst>
              <a:gd name="adj" fmla="val 5067"/>
            </a:avLst>
          </a:prstGeom>
          <a:solidFill>
            <a:srgbClr val="5E4CE6">
              <a:alpha val="95000"/>
            </a:srgbClr>
          </a:solidFill>
          <a:ln/>
        </p:spPr>
      </p:sp>
      <p:sp>
        <p:nvSpPr>
          <p:cNvPr id="6" name="Text 4"/>
          <p:cNvSpPr/>
          <p:nvPr/>
        </p:nvSpPr>
        <p:spPr>
          <a:xfrm>
            <a:off x="530796" y="2220218"/>
            <a:ext cx="3855244" cy="193849"/>
          </a:xfrm>
          <a:prstGeom prst="rect">
            <a:avLst/>
          </a:prstGeom>
          <a:noFill/>
          <a:ln/>
        </p:spPr>
        <p:txBody>
          <a:bodyPr wrap="none" lIns="0" tIns="0" rIns="0" bIns="0" rtlCol="0" anchor="t"/>
          <a:lstStyle/>
          <a:p>
            <a:pPr marL="0" indent="0" algn="l">
              <a:lnSpc>
                <a:spcPct val="104000"/>
              </a:lnSpc>
              <a:buNone/>
            </a:pPr>
            <a:r>
              <a:rPr lang="en-US" sz="1200" dirty="0">
                <a:solidFill>
                  <a:srgbClr val="FFFFFF"/>
                </a:solidFill>
                <a:latin typeface="Outfit ExtraBold" pitchFamily="34" charset="0"/>
                <a:ea typeface="Outfit ExtraBold" pitchFamily="34" charset="-122"/>
                <a:cs typeface="Outfit ExtraBold" pitchFamily="34" charset="-120"/>
              </a:rPr>
              <a:t>Obstacles rencontrés</a:t>
            </a:r>
            <a:endParaRPr lang="en-US" sz="1200" dirty="0"/>
          </a:p>
        </p:txBody>
      </p:sp>
      <p:sp>
        <p:nvSpPr>
          <p:cNvPr id="7" name="Text 5"/>
          <p:cNvSpPr/>
          <p:nvPr/>
        </p:nvSpPr>
        <p:spPr>
          <a:xfrm>
            <a:off x="530796" y="2538040"/>
            <a:ext cx="3855244" cy="1277541"/>
          </a:xfrm>
          <a:prstGeom prst="rect">
            <a:avLst/>
          </a:prstGeom>
          <a:noFill/>
          <a:ln/>
        </p:spPr>
        <p:txBody>
          <a:bodyPr wrap="square" lIns="0" tIns="0" rIns="0" bIns="0" rtlCol="0" anchor="t">
            <a:noAutofit/>
          </a:bodyPr>
          <a:lstStyle/>
          <a:p>
            <a:pPr marL="193040" indent="-193040" algn="just">
              <a:lnSpc>
                <a:spcPct val="133000"/>
              </a:lnSpc>
              <a:buSzPct val="100000"/>
              <a:buChar char="•"/>
            </a:pPr>
            <a:r>
              <a:rPr lang="en-US" sz="1200" b="1" dirty="0">
                <a:solidFill>
                  <a:srgbClr val="FFFFFF"/>
                </a:solidFill>
                <a:latin typeface="Arimo Bold" pitchFamily="34" charset="0"/>
                <a:ea typeface="Arimo Bold" pitchFamily="34" charset="-122"/>
                <a:cs typeface="Arimo Bold" pitchFamily="34" charset="-120"/>
              </a:rPr>
              <a:t>Secret bancaire BRH</a:t>
            </a:r>
            <a:r>
              <a:rPr lang="en-US" sz="1200" dirty="0">
                <a:solidFill>
                  <a:srgbClr val="FFFFFF"/>
                </a:solidFill>
                <a:latin typeface="Arimo" pitchFamily="34" charset="0"/>
                <a:ea typeface="Arimo" pitchFamily="34" charset="-122"/>
                <a:cs typeface="Arimo" pitchFamily="34" charset="-120"/>
              </a:rPr>
              <a:t> : réglementations rigoureuses sur la confidentialité des données</a:t>
            </a:r>
            <a:endParaRPr lang="en-US" sz="1200" dirty="0"/>
          </a:p>
          <a:p>
            <a:pPr marL="193040" indent="-193040" algn="just">
              <a:lnSpc>
                <a:spcPct val="133000"/>
              </a:lnSpc>
              <a:buSzPct val="100000"/>
              <a:buChar char="•"/>
            </a:pPr>
            <a:r>
              <a:rPr lang="en-US" sz="1200" b="1" dirty="0">
                <a:solidFill>
                  <a:srgbClr val="FFFFFF"/>
                </a:solidFill>
                <a:latin typeface="Arimo Bold" pitchFamily="34" charset="0"/>
                <a:ea typeface="Arimo Bold" pitchFamily="34" charset="-122"/>
                <a:cs typeface="Arimo Bold" pitchFamily="34" charset="-120"/>
              </a:rPr>
              <a:t>Silence administratif</a:t>
            </a:r>
            <a:r>
              <a:rPr lang="en-US" sz="1200" dirty="0">
                <a:solidFill>
                  <a:srgbClr val="FFFFFF"/>
                </a:solidFill>
                <a:latin typeface="Arimo" pitchFamily="34" charset="0"/>
                <a:ea typeface="Arimo" pitchFamily="34" charset="-122"/>
                <a:cs typeface="Arimo" pitchFamily="34" charset="-120"/>
              </a:rPr>
              <a:t> : demande officielle d'accompagnement sans réponse, absence de protocoles de partage</a:t>
            </a:r>
            <a:endParaRPr lang="en-US" sz="1200" dirty="0"/>
          </a:p>
          <a:p>
            <a:pPr marL="193040" indent="-193040" algn="just">
              <a:lnSpc>
                <a:spcPct val="133000"/>
              </a:lnSpc>
              <a:buSzPct val="100000"/>
              <a:buChar char="•"/>
            </a:pPr>
            <a:r>
              <a:rPr lang="en-US" sz="1200" b="1" dirty="0">
                <a:solidFill>
                  <a:srgbClr val="FFFFFF"/>
                </a:solidFill>
                <a:latin typeface="Arimo Bold" pitchFamily="34" charset="0"/>
                <a:ea typeface="Arimo Bold" pitchFamily="34" charset="-122"/>
                <a:cs typeface="Arimo Bold" pitchFamily="34" charset="-120"/>
              </a:rPr>
              <a:t>Aucun dépôt public</a:t>
            </a:r>
            <a:r>
              <a:rPr lang="en-US" sz="1200" dirty="0">
                <a:solidFill>
                  <a:srgbClr val="FFFFFF"/>
                </a:solidFill>
                <a:latin typeface="Arimo" pitchFamily="34" charset="0"/>
                <a:ea typeface="Arimo" pitchFamily="34" charset="-122"/>
                <a:cs typeface="Arimo" pitchFamily="34" charset="-120"/>
              </a:rPr>
              <a:t> : aucun historique de transactions disponible pour le contexte haïtien</a:t>
            </a:r>
            <a:endParaRPr lang="en-US" sz="1200" dirty="0"/>
          </a:p>
        </p:txBody>
      </p:sp>
      <p:sp>
        <p:nvSpPr>
          <p:cNvPr id="8" name="Text 6"/>
          <p:cNvSpPr/>
          <p:nvPr/>
        </p:nvSpPr>
        <p:spPr>
          <a:xfrm>
            <a:off x="4728046" y="2220218"/>
            <a:ext cx="3924598" cy="193849"/>
          </a:xfrm>
          <a:prstGeom prst="rect">
            <a:avLst/>
          </a:prstGeom>
          <a:noFill/>
          <a:ln/>
        </p:spPr>
        <p:txBody>
          <a:bodyPr wrap="none" lIns="0" tIns="0" rIns="0" bIns="0" rtlCol="0" anchor="t"/>
          <a:lstStyle/>
          <a:p>
            <a:pPr marL="0" indent="0" algn="l">
              <a:lnSpc>
                <a:spcPct val="104000"/>
              </a:lnSpc>
              <a:buNone/>
            </a:pPr>
            <a:r>
              <a:rPr lang="en-US" sz="1600" dirty="0" smtClean="0">
                <a:solidFill>
                  <a:srgbClr val="231971"/>
                </a:solidFill>
                <a:latin typeface="Outfit ExtraBold" pitchFamily="34" charset="0"/>
                <a:ea typeface="Outfit ExtraBold" pitchFamily="34" charset="-122"/>
                <a:cs typeface="Outfit ExtraBold" pitchFamily="34" charset="-120"/>
              </a:rPr>
              <a:t>Dataset </a:t>
            </a:r>
            <a:r>
              <a:rPr lang="en-US" sz="1600" dirty="0">
                <a:solidFill>
                  <a:srgbClr val="231971"/>
                </a:solidFill>
                <a:latin typeface="Outfit ExtraBold" pitchFamily="34" charset="0"/>
                <a:ea typeface="Outfit ExtraBold" pitchFamily="34" charset="-122"/>
                <a:cs typeface="Outfit ExtraBold" pitchFamily="34" charset="-120"/>
              </a:rPr>
              <a:t>Proxy</a:t>
            </a:r>
            <a:endParaRPr lang="en-US" sz="1600" dirty="0"/>
          </a:p>
        </p:txBody>
      </p:sp>
      <p:sp>
        <p:nvSpPr>
          <p:cNvPr id="9" name="Text 7"/>
          <p:cNvSpPr/>
          <p:nvPr/>
        </p:nvSpPr>
        <p:spPr>
          <a:xfrm>
            <a:off x="4728046" y="2538040"/>
            <a:ext cx="3924598" cy="1358099"/>
          </a:xfrm>
          <a:prstGeom prst="rect">
            <a:avLst/>
          </a:prstGeom>
          <a:noFill/>
          <a:ln/>
        </p:spPr>
        <p:txBody>
          <a:bodyPr wrap="square" lIns="0" tIns="0" rIns="0" bIns="0" rtlCol="0" anchor="t">
            <a:noAutofit/>
          </a:bodyPr>
          <a:lstStyle/>
          <a:p>
            <a:pPr marL="0" indent="0" algn="just">
              <a:lnSpc>
                <a:spcPct val="133000"/>
              </a:lnSpc>
              <a:buNone/>
            </a:pPr>
            <a:r>
              <a:rPr lang="en-US" sz="1200" dirty="0">
                <a:solidFill>
                  <a:srgbClr val="2A2742"/>
                </a:solidFill>
                <a:latin typeface="Arimo" pitchFamily="34" charset="0"/>
                <a:ea typeface="Arimo" pitchFamily="34" charset="-122"/>
                <a:cs typeface="Arimo" pitchFamily="34" charset="-120"/>
              </a:rPr>
              <a:t>Utilisation du </a:t>
            </a:r>
            <a:r>
              <a:rPr lang="en-US" sz="1200" b="1" dirty="0">
                <a:solidFill>
                  <a:srgbClr val="2A2742"/>
                </a:solidFill>
                <a:latin typeface="Arimo Bold" pitchFamily="34" charset="0"/>
                <a:ea typeface="Arimo Bold" pitchFamily="34" charset="-122"/>
                <a:cs typeface="Arimo Bold" pitchFamily="34" charset="-120"/>
              </a:rPr>
              <a:t>Indian Banking Transactions Dataset</a:t>
            </a:r>
            <a:r>
              <a:rPr lang="en-US" sz="1200" dirty="0">
                <a:solidFill>
                  <a:srgbClr val="2A2742"/>
                </a:solidFill>
                <a:latin typeface="Arimo" pitchFamily="34" charset="0"/>
                <a:ea typeface="Arimo" pitchFamily="34" charset="-122"/>
                <a:cs typeface="Arimo" pitchFamily="34" charset="-120"/>
              </a:rPr>
              <a:t> (Kaggle, 2019–2024) : 550 000 transactions, diversité opérationnelle (dépôts, retraits, virements), multi-canaux (guichets, ATM, web, mobile). Pipeline ETL transposable aux données locales haïtiennes.</a:t>
            </a:r>
            <a:endParaRPr lang="en-US" sz="1200" dirty="0"/>
          </a:p>
        </p:txBody>
      </p:sp>
    </p:spTree>
    <p:extLst>
      <p:ext uri="{BB962C8B-B14F-4D97-AF65-F5344CB8AC3E}">
        <p14:creationId xmlns:p14="http://schemas.microsoft.com/office/powerpoint/2010/main" val="2195829653"/>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496119" y="587127"/>
            <a:ext cx="8151763" cy="327050"/>
          </a:xfrm>
          <a:prstGeom prst="rect">
            <a:avLst/>
          </a:prstGeom>
          <a:noFill/>
          <a:ln/>
        </p:spPr>
        <p:txBody>
          <a:bodyPr wrap="none" lIns="0" tIns="0" rIns="0" bIns="0" rtlCol="0" anchor="t"/>
          <a:lstStyle/>
          <a:p>
            <a:pPr>
              <a:lnSpc>
                <a:spcPct val="104000"/>
              </a:lnSpc>
            </a:pPr>
            <a:r>
              <a:rPr lang="en-US" sz="2400" dirty="0" smtClean="0">
                <a:solidFill>
                  <a:srgbClr val="231971"/>
                </a:solidFill>
                <a:latin typeface="Outfit ExtraBold" pitchFamily="34" charset="0"/>
                <a:ea typeface="Outfit ExtraBold" pitchFamily="34" charset="-122"/>
                <a:cs typeface="Outfit ExtraBold" pitchFamily="34" charset="-120"/>
              </a:rPr>
              <a:t>PRÉPARATION ET ANALYSE EXPLORATOIRE</a:t>
            </a:r>
            <a:endParaRPr lang="en-US" sz="2400" dirty="0"/>
          </a:p>
        </p:txBody>
      </p:sp>
      <p:sp>
        <p:nvSpPr>
          <p:cNvPr id="6" name="Text 3"/>
          <p:cNvSpPr/>
          <p:nvPr/>
        </p:nvSpPr>
        <p:spPr>
          <a:xfrm>
            <a:off x="496119" y="1418630"/>
            <a:ext cx="4020666" cy="163488"/>
          </a:xfrm>
          <a:prstGeom prst="rect">
            <a:avLst/>
          </a:prstGeom>
          <a:noFill/>
          <a:ln/>
        </p:spPr>
        <p:txBody>
          <a:bodyPr wrap="none" lIns="0" tIns="0" rIns="0" bIns="0" rtlCol="0" anchor="t"/>
          <a:lstStyle/>
          <a:p>
            <a:pPr marL="0" indent="0" algn="l">
              <a:lnSpc>
                <a:spcPct val="104000"/>
              </a:lnSpc>
              <a:buNone/>
            </a:pPr>
            <a:r>
              <a:rPr lang="en-US" sz="1100" dirty="0">
                <a:solidFill>
                  <a:srgbClr val="2A2742"/>
                </a:solidFill>
                <a:latin typeface="Outfit ExtraBold" pitchFamily="34" charset="0"/>
                <a:ea typeface="Outfit ExtraBold" pitchFamily="34" charset="-122"/>
                <a:cs typeface="Outfit ExtraBold" pitchFamily="34" charset="-120"/>
              </a:rPr>
              <a:t>Identifiants</a:t>
            </a:r>
            <a:endParaRPr lang="en-US" sz="1000" dirty="0"/>
          </a:p>
        </p:txBody>
      </p:sp>
      <p:sp>
        <p:nvSpPr>
          <p:cNvPr id="7" name="Text 4"/>
          <p:cNvSpPr/>
          <p:nvPr/>
        </p:nvSpPr>
        <p:spPr>
          <a:xfrm>
            <a:off x="496119" y="1635100"/>
            <a:ext cx="4020666" cy="154409"/>
          </a:xfrm>
          <a:prstGeom prst="rect">
            <a:avLst/>
          </a:prstGeom>
          <a:noFill/>
          <a:ln/>
        </p:spPr>
        <p:txBody>
          <a:bodyPr wrap="none" lIns="0" tIns="0" rIns="0" bIns="0" rtlCol="0" anchor="t"/>
          <a:lstStyle/>
          <a:p>
            <a:pPr marL="0" indent="0" algn="l">
              <a:lnSpc>
                <a:spcPct val="123000"/>
              </a:lnSpc>
              <a:buNone/>
            </a:pPr>
            <a:r>
              <a:rPr lang="en-US" sz="800" dirty="0">
                <a:solidFill>
                  <a:srgbClr val="2A2742"/>
                </a:solidFill>
                <a:latin typeface="Arimo" pitchFamily="34" charset="0"/>
                <a:ea typeface="Arimo" pitchFamily="34" charset="-122"/>
                <a:cs typeface="Arimo" pitchFamily="34" charset="-120"/>
              </a:rPr>
              <a:t>client_id, </a:t>
            </a:r>
            <a:r>
              <a:rPr lang="en-US" sz="1000" dirty="0">
                <a:solidFill>
                  <a:srgbClr val="2A2742"/>
                </a:solidFill>
                <a:latin typeface="Arimo" pitchFamily="34" charset="0"/>
                <a:ea typeface="Arimo" pitchFamily="34" charset="-122"/>
                <a:cs typeface="Arimo" pitchFamily="34" charset="-120"/>
              </a:rPr>
              <a:t>transaction_id</a:t>
            </a:r>
            <a:endParaRPr lang="en-US" sz="800" dirty="0"/>
          </a:p>
        </p:txBody>
      </p:sp>
      <p:sp>
        <p:nvSpPr>
          <p:cNvPr id="9" name="Text 5"/>
          <p:cNvSpPr/>
          <p:nvPr/>
        </p:nvSpPr>
        <p:spPr>
          <a:xfrm>
            <a:off x="4627141" y="1418630"/>
            <a:ext cx="4020741" cy="163488"/>
          </a:xfrm>
          <a:prstGeom prst="rect">
            <a:avLst/>
          </a:prstGeom>
          <a:noFill/>
          <a:ln/>
        </p:spPr>
        <p:txBody>
          <a:bodyPr wrap="none" lIns="0" tIns="0" rIns="0" bIns="0" rtlCol="0" anchor="t"/>
          <a:lstStyle/>
          <a:p>
            <a:pPr marL="0" indent="0" algn="l">
              <a:lnSpc>
                <a:spcPct val="104000"/>
              </a:lnSpc>
              <a:buNone/>
            </a:pPr>
            <a:r>
              <a:rPr lang="en-US" sz="1000" dirty="0">
                <a:solidFill>
                  <a:srgbClr val="2A2742"/>
                </a:solidFill>
                <a:latin typeface="Outfit ExtraBold" pitchFamily="34" charset="0"/>
                <a:ea typeface="Outfit ExtraBold" pitchFamily="34" charset="-122"/>
                <a:cs typeface="Outfit ExtraBold" pitchFamily="34" charset="-120"/>
              </a:rPr>
              <a:t>Métriques </a:t>
            </a:r>
            <a:r>
              <a:rPr lang="en-US" sz="1100" dirty="0">
                <a:solidFill>
                  <a:srgbClr val="2A2742"/>
                </a:solidFill>
                <a:latin typeface="Outfit ExtraBold" pitchFamily="34" charset="0"/>
                <a:ea typeface="Outfit ExtraBold" pitchFamily="34" charset="-122"/>
                <a:cs typeface="Outfit ExtraBold" pitchFamily="34" charset="-120"/>
              </a:rPr>
              <a:t>financières</a:t>
            </a:r>
            <a:endParaRPr lang="en-US" sz="1000" dirty="0"/>
          </a:p>
        </p:txBody>
      </p:sp>
      <p:sp>
        <p:nvSpPr>
          <p:cNvPr id="10" name="Text 6"/>
          <p:cNvSpPr/>
          <p:nvPr/>
        </p:nvSpPr>
        <p:spPr>
          <a:xfrm>
            <a:off x="4627141" y="1635100"/>
            <a:ext cx="4020741" cy="154409"/>
          </a:xfrm>
          <a:prstGeom prst="rect">
            <a:avLst/>
          </a:prstGeom>
          <a:noFill/>
          <a:ln/>
        </p:spPr>
        <p:txBody>
          <a:bodyPr wrap="none" lIns="0" tIns="0" rIns="0" bIns="0" rtlCol="0" anchor="t"/>
          <a:lstStyle/>
          <a:p>
            <a:pPr marL="0" indent="0" algn="l">
              <a:lnSpc>
                <a:spcPct val="123000"/>
              </a:lnSpc>
              <a:buNone/>
            </a:pPr>
            <a:r>
              <a:rPr lang="en-US" sz="1000" dirty="0">
                <a:solidFill>
                  <a:srgbClr val="2A2742"/>
                </a:solidFill>
                <a:latin typeface="Arimo" pitchFamily="34" charset="0"/>
                <a:ea typeface="Arimo" pitchFamily="34" charset="-122"/>
                <a:cs typeface="Arimo" pitchFamily="34" charset="-120"/>
              </a:rPr>
              <a:t>transaction_amount</a:t>
            </a:r>
            <a:r>
              <a:rPr lang="en-US" sz="800" dirty="0">
                <a:solidFill>
                  <a:srgbClr val="2A2742"/>
                </a:solidFill>
                <a:latin typeface="Arimo" pitchFamily="34" charset="0"/>
                <a:ea typeface="Arimo" pitchFamily="34" charset="-122"/>
                <a:cs typeface="Arimo" pitchFamily="34" charset="-120"/>
              </a:rPr>
              <a:t>, current_balance, loan_type, credit_score</a:t>
            </a:r>
            <a:endParaRPr lang="en-US" sz="800" dirty="0"/>
          </a:p>
        </p:txBody>
      </p:sp>
      <p:sp>
        <p:nvSpPr>
          <p:cNvPr id="12" name="Text 7"/>
          <p:cNvSpPr/>
          <p:nvPr/>
        </p:nvSpPr>
        <p:spPr>
          <a:xfrm>
            <a:off x="496119" y="2338090"/>
            <a:ext cx="4020666" cy="163488"/>
          </a:xfrm>
          <a:prstGeom prst="rect">
            <a:avLst/>
          </a:prstGeom>
          <a:noFill/>
          <a:ln/>
        </p:spPr>
        <p:txBody>
          <a:bodyPr wrap="none" lIns="0" tIns="0" rIns="0" bIns="0" rtlCol="0" anchor="t"/>
          <a:lstStyle/>
          <a:p>
            <a:pPr marL="0" indent="0" algn="l">
              <a:lnSpc>
                <a:spcPct val="104000"/>
              </a:lnSpc>
              <a:buNone/>
            </a:pPr>
            <a:r>
              <a:rPr lang="en-US" sz="1000" dirty="0">
                <a:solidFill>
                  <a:srgbClr val="2A2742"/>
                </a:solidFill>
                <a:latin typeface="Outfit ExtraBold" pitchFamily="34" charset="0"/>
                <a:ea typeface="Outfit ExtraBold" pitchFamily="34" charset="-122"/>
                <a:cs typeface="Outfit ExtraBold" pitchFamily="34" charset="-120"/>
              </a:rPr>
              <a:t>Contexte </a:t>
            </a:r>
            <a:r>
              <a:rPr lang="en-US" sz="1050" dirty="0">
                <a:solidFill>
                  <a:srgbClr val="2A2742"/>
                </a:solidFill>
                <a:latin typeface="Outfit ExtraBold" pitchFamily="34" charset="0"/>
                <a:ea typeface="Outfit ExtraBold" pitchFamily="34" charset="-122"/>
                <a:cs typeface="Outfit ExtraBold" pitchFamily="34" charset="-120"/>
              </a:rPr>
              <a:t>spatio-temporel</a:t>
            </a:r>
            <a:endParaRPr lang="en-US" sz="1000" dirty="0"/>
          </a:p>
        </p:txBody>
      </p:sp>
      <p:sp>
        <p:nvSpPr>
          <p:cNvPr id="13" name="Text 8"/>
          <p:cNvSpPr/>
          <p:nvPr/>
        </p:nvSpPr>
        <p:spPr>
          <a:xfrm>
            <a:off x="496119" y="2554560"/>
            <a:ext cx="4020666" cy="154409"/>
          </a:xfrm>
          <a:prstGeom prst="rect">
            <a:avLst/>
          </a:prstGeom>
          <a:noFill/>
          <a:ln/>
        </p:spPr>
        <p:txBody>
          <a:bodyPr wrap="none" lIns="0" tIns="0" rIns="0" bIns="0" rtlCol="0" anchor="t"/>
          <a:lstStyle/>
          <a:p>
            <a:pPr marL="0" indent="0" algn="l">
              <a:lnSpc>
                <a:spcPct val="123000"/>
              </a:lnSpc>
              <a:buNone/>
            </a:pPr>
            <a:r>
              <a:rPr lang="en-US" sz="800" dirty="0">
                <a:solidFill>
                  <a:srgbClr val="2A2742"/>
                </a:solidFill>
                <a:latin typeface="Arimo" pitchFamily="34" charset="0"/>
                <a:ea typeface="Arimo" pitchFamily="34" charset="-122"/>
                <a:cs typeface="Arimo" pitchFamily="34" charset="-120"/>
              </a:rPr>
              <a:t>location, channel (Mobile, Web, API, </a:t>
            </a:r>
            <a:r>
              <a:rPr lang="en-US" sz="1000" dirty="0">
                <a:solidFill>
                  <a:srgbClr val="2A2742"/>
                </a:solidFill>
                <a:latin typeface="Arimo" pitchFamily="34" charset="0"/>
                <a:ea typeface="Arimo" pitchFamily="34" charset="-122"/>
                <a:cs typeface="Arimo" pitchFamily="34" charset="-120"/>
              </a:rPr>
              <a:t>Agence</a:t>
            </a:r>
            <a:r>
              <a:rPr lang="en-US" sz="800" dirty="0">
                <a:solidFill>
                  <a:srgbClr val="2A2742"/>
                </a:solidFill>
                <a:latin typeface="Arimo" pitchFamily="34" charset="0"/>
                <a:ea typeface="Arimo" pitchFamily="34" charset="-122"/>
                <a:cs typeface="Arimo" pitchFamily="34" charset="-120"/>
              </a:rPr>
              <a:t>), timestamp</a:t>
            </a:r>
            <a:endParaRPr lang="en-US" sz="800" dirty="0"/>
          </a:p>
        </p:txBody>
      </p:sp>
      <p:sp>
        <p:nvSpPr>
          <p:cNvPr id="15" name="Text 9"/>
          <p:cNvSpPr/>
          <p:nvPr/>
        </p:nvSpPr>
        <p:spPr>
          <a:xfrm>
            <a:off x="4627141" y="2338090"/>
            <a:ext cx="4020741" cy="163488"/>
          </a:xfrm>
          <a:prstGeom prst="rect">
            <a:avLst/>
          </a:prstGeom>
          <a:noFill/>
          <a:ln/>
        </p:spPr>
        <p:txBody>
          <a:bodyPr wrap="none" lIns="0" tIns="0" rIns="0" bIns="0" rtlCol="0" anchor="t"/>
          <a:lstStyle/>
          <a:p>
            <a:pPr marL="0" indent="0" algn="l">
              <a:lnSpc>
                <a:spcPct val="104000"/>
              </a:lnSpc>
              <a:buNone/>
            </a:pPr>
            <a:r>
              <a:rPr lang="en-US" sz="1050" dirty="0">
                <a:solidFill>
                  <a:srgbClr val="2A2742"/>
                </a:solidFill>
                <a:latin typeface="Outfit ExtraBold" pitchFamily="34" charset="0"/>
                <a:ea typeface="Outfit ExtraBold" pitchFamily="34" charset="-122"/>
                <a:cs typeface="Outfit ExtraBold" pitchFamily="34" charset="-120"/>
              </a:rPr>
              <a:t>Profilage</a:t>
            </a:r>
            <a:r>
              <a:rPr lang="en-US" sz="1000" dirty="0">
                <a:solidFill>
                  <a:srgbClr val="2A2742"/>
                </a:solidFill>
                <a:latin typeface="Outfit ExtraBold" pitchFamily="34" charset="0"/>
                <a:ea typeface="Outfit ExtraBold" pitchFamily="34" charset="-122"/>
                <a:cs typeface="Outfit ExtraBold" pitchFamily="34" charset="-120"/>
              </a:rPr>
              <a:t> &amp; Risque</a:t>
            </a:r>
            <a:endParaRPr lang="en-US" sz="1000" dirty="0"/>
          </a:p>
        </p:txBody>
      </p:sp>
      <p:sp>
        <p:nvSpPr>
          <p:cNvPr id="16" name="Text 10"/>
          <p:cNvSpPr/>
          <p:nvPr/>
        </p:nvSpPr>
        <p:spPr>
          <a:xfrm>
            <a:off x="4627141" y="2554560"/>
            <a:ext cx="4020741" cy="154409"/>
          </a:xfrm>
          <a:prstGeom prst="rect">
            <a:avLst/>
          </a:prstGeom>
          <a:noFill/>
          <a:ln/>
        </p:spPr>
        <p:txBody>
          <a:bodyPr wrap="none" lIns="0" tIns="0" rIns="0" bIns="0" rtlCol="0" anchor="t"/>
          <a:lstStyle/>
          <a:p>
            <a:pPr marL="0" indent="0" algn="l">
              <a:lnSpc>
                <a:spcPct val="123000"/>
              </a:lnSpc>
              <a:buNone/>
            </a:pPr>
            <a:r>
              <a:rPr lang="en-US" sz="1000" dirty="0">
                <a:solidFill>
                  <a:srgbClr val="2A2742"/>
                </a:solidFill>
                <a:latin typeface="Arimo" pitchFamily="34" charset="0"/>
                <a:ea typeface="Arimo" pitchFamily="34" charset="-122"/>
                <a:cs typeface="Arimo" pitchFamily="34" charset="-120"/>
              </a:rPr>
              <a:t>kyc_status</a:t>
            </a:r>
            <a:r>
              <a:rPr lang="en-US" sz="800" dirty="0">
                <a:solidFill>
                  <a:srgbClr val="2A2742"/>
                </a:solidFill>
                <a:latin typeface="Arimo" pitchFamily="34" charset="0"/>
                <a:ea typeface="Arimo" pitchFamily="34" charset="-122"/>
                <a:cs typeface="Arimo" pitchFamily="34" charset="-120"/>
              </a:rPr>
              <a:t>, </a:t>
            </a:r>
            <a:r>
              <a:rPr lang="en-US" sz="800" dirty="0" err="1">
                <a:solidFill>
                  <a:srgbClr val="2A2742"/>
                </a:solidFill>
                <a:latin typeface="Arimo" pitchFamily="34" charset="0"/>
                <a:ea typeface="Arimo" pitchFamily="34" charset="-122"/>
                <a:cs typeface="Arimo" pitchFamily="34" charset="-120"/>
              </a:rPr>
              <a:t>is_fraud</a:t>
            </a:r>
            <a:r>
              <a:rPr lang="en-US" sz="800" dirty="0">
                <a:solidFill>
                  <a:srgbClr val="2A2742"/>
                </a:solidFill>
                <a:latin typeface="Arimo" pitchFamily="34" charset="0"/>
                <a:ea typeface="Arimo" pitchFamily="34" charset="-122"/>
                <a:cs typeface="Arimo" pitchFamily="34" charset="-120"/>
              </a:rPr>
              <a:t> </a:t>
            </a:r>
            <a:r>
              <a:rPr lang="en-US" sz="800" dirty="0" smtClean="0">
                <a:solidFill>
                  <a:srgbClr val="2A2742"/>
                </a:solidFill>
                <a:latin typeface="Arimo" pitchFamily="34" charset="0"/>
                <a:ea typeface="Arimo" pitchFamily="34" charset="-122"/>
                <a:cs typeface="Arimo" pitchFamily="34" charset="-120"/>
              </a:rPr>
              <a:t>- </a:t>
            </a:r>
            <a:r>
              <a:rPr lang="en-US" sz="800" dirty="0">
                <a:solidFill>
                  <a:srgbClr val="2A2742"/>
                </a:solidFill>
                <a:latin typeface="Arimo" pitchFamily="34" charset="0"/>
                <a:ea typeface="Arimo" pitchFamily="34" charset="-122"/>
                <a:cs typeface="Arimo" pitchFamily="34" charset="-120"/>
              </a:rPr>
              <a:t>taux effectif : </a:t>
            </a:r>
            <a:r>
              <a:rPr lang="en-US" sz="800" b="1" dirty="0">
                <a:solidFill>
                  <a:srgbClr val="2A2742"/>
                </a:solidFill>
                <a:latin typeface="Arimo Bold" pitchFamily="34" charset="0"/>
                <a:ea typeface="Arimo Bold" pitchFamily="34" charset="-122"/>
                <a:cs typeface="Arimo Bold" pitchFamily="34" charset="-120"/>
              </a:rPr>
              <a:t>0,89 %</a:t>
            </a:r>
            <a:endParaRPr lang="en-US" sz="800" dirty="0"/>
          </a:p>
        </p:txBody>
      </p:sp>
      <p:sp>
        <p:nvSpPr>
          <p:cNvPr id="17" name="Text 11"/>
          <p:cNvSpPr/>
          <p:nvPr/>
        </p:nvSpPr>
        <p:spPr>
          <a:xfrm>
            <a:off x="496119" y="2896567"/>
            <a:ext cx="3948261" cy="163488"/>
          </a:xfrm>
          <a:prstGeom prst="rect">
            <a:avLst/>
          </a:prstGeom>
          <a:noFill/>
          <a:ln/>
        </p:spPr>
        <p:txBody>
          <a:bodyPr wrap="none" lIns="0" tIns="0" rIns="0" bIns="0" rtlCol="0" anchor="t"/>
          <a:lstStyle/>
          <a:p>
            <a:pPr marL="0" indent="0" algn="l">
              <a:lnSpc>
                <a:spcPct val="104000"/>
              </a:lnSpc>
              <a:buNone/>
            </a:pPr>
            <a:r>
              <a:rPr lang="en-US" sz="1000" dirty="0">
                <a:solidFill>
                  <a:srgbClr val="231971"/>
                </a:solidFill>
                <a:latin typeface="Outfit ExtraBold" pitchFamily="34" charset="0"/>
                <a:ea typeface="Outfit ExtraBold" pitchFamily="34" charset="-122"/>
                <a:cs typeface="Outfit ExtraBold" pitchFamily="34" charset="-120"/>
              </a:rPr>
              <a:t>Préparation des données</a:t>
            </a:r>
            <a:endParaRPr lang="en-US" sz="1000" dirty="0"/>
          </a:p>
        </p:txBody>
      </p:sp>
      <p:sp>
        <p:nvSpPr>
          <p:cNvPr id="18" name="Text 12"/>
          <p:cNvSpPr/>
          <p:nvPr/>
        </p:nvSpPr>
        <p:spPr>
          <a:xfrm>
            <a:off x="496119" y="3148310"/>
            <a:ext cx="3948261" cy="897583"/>
          </a:xfrm>
          <a:prstGeom prst="rect">
            <a:avLst/>
          </a:prstGeom>
          <a:noFill/>
          <a:ln/>
        </p:spPr>
        <p:txBody>
          <a:bodyPr wrap="square" lIns="0" tIns="0" rIns="0" bIns="0" rtlCol="0" anchor="t">
            <a:noAutofit/>
          </a:bodyPr>
          <a:lstStyle/>
          <a:p>
            <a:pPr marL="0" indent="0" algn="just">
              <a:lnSpc>
                <a:spcPct val="150000"/>
              </a:lnSpc>
              <a:buNone/>
            </a:pPr>
            <a:r>
              <a:rPr lang="en-US" sz="1000" dirty="0">
                <a:solidFill>
                  <a:srgbClr val="2A2742"/>
                </a:solidFill>
                <a:latin typeface="Arimo" pitchFamily="34" charset="0"/>
                <a:ea typeface="Arimo" pitchFamily="34" charset="-122"/>
                <a:cs typeface="Arimo" pitchFamily="34" charset="-120"/>
              </a:rPr>
              <a:t>Imputation catégorielle de </a:t>
            </a:r>
            <a:r>
              <a:rPr lang="en-US" sz="1000" i="1" dirty="0">
                <a:solidFill>
                  <a:srgbClr val="2A2742"/>
                </a:solidFill>
                <a:latin typeface="Arimo" pitchFamily="34" charset="0"/>
                <a:ea typeface="Arimo" pitchFamily="34" charset="-122"/>
                <a:cs typeface="Arimo" pitchFamily="34" charset="-120"/>
              </a:rPr>
              <a:t>loan_type</a:t>
            </a:r>
            <a:r>
              <a:rPr lang="en-US" sz="1000" dirty="0">
                <a:solidFill>
                  <a:srgbClr val="2A2742"/>
                </a:solidFill>
                <a:latin typeface="Arimo" pitchFamily="34" charset="0"/>
                <a:ea typeface="Arimo" pitchFamily="34" charset="-122"/>
                <a:cs typeface="Arimo" pitchFamily="34" charset="-120"/>
              </a:rPr>
              <a:t> par "Unknown". Feature engineering : ratio </a:t>
            </a:r>
            <a:r>
              <a:rPr lang="en-US" sz="1000" b="1" dirty="0">
                <a:solidFill>
                  <a:srgbClr val="2A2742"/>
                </a:solidFill>
                <a:latin typeface="Arimo Bold" pitchFamily="34" charset="0"/>
                <a:ea typeface="Arimo Bold" pitchFamily="34" charset="-122"/>
                <a:cs typeface="Arimo Bold" pitchFamily="34" charset="-120"/>
              </a:rPr>
              <a:t>impact_solde</a:t>
            </a:r>
            <a:r>
              <a:rPr lang="en-US" sz="1000" dirty="0">
                <a:solidFill>
                  <a:srgbClr val="2A2742"/>
                </a:solidFill>
                <a:latin typeface="Arimo" pitchFamily="34" charset="0"/>
                <a:ea typeface="Arimo" pitchFamily="34" charset="-122"/>
                <a:cs typeface="Arimo" pitchFamily="34" charset="-120"/>
              </a:rPr>
              <a:t> (montant/solde courant) et indicateur </a:t>
            </a:r>
            <a:r>
              <a:rPr lang="en-US" sz="1000" b="1" dirty="0">
                <a:solidFill>
                  <a:srgbClr val="2A2742"/>
                </a:solidFill>
                <a:latin typeface="Arimo Bold" pitchFamily="34" charset="0"/>
                <a:ea typeface="Arimo Bold" pitchFamily="34" charset="-122"/>
                <a:cs typeface="Arimo Bold" pitchFamily="34" charset="-120"/>
              </a:rPr>
              <a:t>pression_dette</a:t>
            </a:r>
            <a:r>
              <a:rPr lang="en-US" sz="1000" dirty="0">
                <a:solidFill>
                  <a:srgbClr val="2A2742"/>
                </a:solidFill>
                <a:latin typeface="Arimo" pitchFamily="34" charset="0"/>
                <a:ea typeface="Arimo" pitchFamily="34" charset="-122"/>
                <a:cs typeface="Arimo" pitchFamily="34" charset="-120"/>
              </a:rPr>
              <a:t> (prêts/avoirs). Réduction de dimension par </a:t>
            </a:r>
            <a:r>
              <a:rPr lang="en-US" sz="1000" b="1" dirty="0" smtClean="0">
                <a:solidFill>
                  <a:srgbClr val="2A2742"/>
                </a:solidFill>
                <a:latin typeface="Arimo Bold" pitchFamily="34" charset="0"/>
                <a:ea typeface="Arimo Bold" pitchFamily="34" charset="-122"/>
                <a:cs typeface="Arimo Bold" pitchFamily="34" charset="-120"/>
              </a:rPr>
              <a:t>FAMD</a:t>
            </a:r>
            <a:endParaRPr lang="en-US" sz="1000" dirty="0"/>
          </a:p>
        </p:txBody>
      </p:sp>
      <p:sp>
        <p:nvSpPr>
          <p:cNvPr id="19" name="Text 13"/>
          <p:cNvSpPr/>
          <p:nvPr/>
        </p:nvSpPr>
        <p:spPr>
          <a:xfrm>
            <a:off x="4704383" y="2896567"/>
            <a:ext cx="3948261" cy="163488"/>
          </a:xfrm>
          <a:prstGeom prst="rect">
            <a:avLst/>
          </a:prstGeom>
          <a:noFill/>
          <a:ln/>
        </p:spPr>
        <p:txBody>
          <a:bodyPr wrap="none" lIns="0" tIns="0" rIns="0" bIns="0" rtlCol="0" anchor="t"/>
          <a:lstStyle/>
          <a:p>
            <a:pPr>
              <a:lnSpc>
                <a:spcPct val="104000"/>
              </a:lnSpc>
            </a:pPr>
            <a:r>
              <a:rPr lang="fr-FR" sz="1000" dirty="0">
                <a:solidFill>
                  <a:srgbClr val="231971"/>
                </a:solidFill>
                <a:latin typeface="Outfit ExtraBold" pitchFamily="34" charset="0"/>
                <a:ea typeface="Outfit ExtraBold" pitchFamily="34" charset="-122"/>
                <a:cs typeface="Outfit ExtraBold" pitchFamily="34" charset="-120"/>
              </a:rPr>
              <a:t>CANAUX PRIORITAIRES</a:t>
            </a:r>
            <a:endParaRPr lang="fr-FR" sz="1000" dirty="0"/>
          </a:p>
        </p:txBody>
      </p:sp>
      <p:sp>
        <p:nvSpPr>
          <p:cNvPr id="20" name="Shape 14"/>
          <p:cNvSpPr/>
          <p:nvPr/>
        </p:nvSpPr>
        <p:spPr>
          <a:xfrm>
            <a:off x="4704383" y="3159398"/>
            <a:ext cx="3948261" cy="1103412"/>
          </a:xfrm>
          <a:prstGeom prst="roundRect">
            <a:avLst>
              <a:gd name="adj" fmla="val 3984"/>
            </a:avLst>
          </a:prstGeom>
          <a:noFill/>
          <a:ln w="4763">
            <a:solidFill>
              <a:srgbClr val="000000">
                <a:alpha val="8000"/>
              </a:srgbClr>
            </a:solidFill>
            <a:prstDash val="solid"/>
          </a:ln>
        </p:spPr>
      </p:sp>
      <p:sp>
        <p:nvSpPr>
          <p:cNvPr id="21" name="Shape 15"/>
          <p:cNvSpPr/>
          <p:nvPr/>
        </p:nvSpPr>
        <p:spPr>
          <a:xfrm>
            <a:off x="4704383" y="3436441"/>
            <a:ext cx="3948261" cy="6542"/>
          </a:xfrm>
          <a:prstGeom prst="rect">
            <a:avLst/>
          </a:prstGeom>
          <a:solidFill>
            <a:srgbClr val="000000">
              <a:alpha val="8000"/>
            </a:srgbClr>
          </a:solidFill>
          <a:ln/>
        </p:spPr>
      </p:sp>
      <p:sp>
        <p:nvSpPr>
          <p:cNvPr id="22" name="Shape 16"/>
          <p:cNvSpPr/>
          <p:nvPr/>
        </p:nvSpPr>
        <p:spPr>
          <a:xfrm>
            <a:off x="4704383" y="3711104"/>
            <a:ext cx="3948261" cy="6542"/>
          </a:xfrm>
          <a:prstGeom prst="rect">
            <a:avLst/>
          </a:prstGeom>
          <a:solidFill>
            <a:srgbClr val="000000">
              <a:alpha val="8000"/>
            </a:srgbClr>
          </a:solidFill>
          <a:ln/>
        </p:spPr>
      </p:sp>
      <p:sp>
        <p:nvSpPr>
          <p:cNvPr id="23" name="Shape 17"/>
          <p:cNvSpPr/>
          <p:nvPr/>
        </p:nvSpPr>
        <p:spPr>
          <a:xfrm>
            <a:off x="4704383" y="3985766"/>
            <a:ext cx="3948261" cy="6542"/>
          </a:xfrm>
          <a:prstGeom prst="rect">
            <a:avLst/>
          </a:prstGeom>
          <a:solidFill>
            <a:srgbClr val="000000">
              <a:alpha val="8000"/>
            </a:srgbClr>
          </a:solidFill>
          <a:ln/>
        </p:spPr>
      </p:sp>
      <p:sp>
        <p:nvSpPr>
          <p:cNvPr id="24" name="Text 18"/>
          <p:cNvSpPr/>
          <p:nvPr/>
        </p:nvSpPr>
        <p:spPr>
          <a:xfrm>
            <a:off x="4814292" y="3221906"/>
            <a:ext cx="1560537" cy="154409"/>
          </a:xfrm>
          <a:prstGeom prst="rect">
            <a:avLst/>
          </a:prstGeom>
          <a:noFill/>
          <a:ln/>
        </p:spPr>
        <p:txBody>
          <a:bodyPr wrap="none" lIns="0" tIns="0" rIns="0" bIns="0" rtlCol="0" anchor="t"/>
          <a:lstStyle/>
          <a:p>
            <a:pPr marL="0" indent="0" algn="l">
              <a:lnSpc>
                <a:spcPct val="123000"/>
              </a:lnSpc>
              <a:buNone/>
            </a:pPr>
            <a:r>
              <a:rPr lang="en-US" sz="1050" b="1" dirty="0">
                <a:solidFill>
                  <a:srgbClr val="2A2742"/>
                </a:solidFill>
                <a:latin typeface="Arimo Bold" pitchFamily="34" charset="0"/>
                <a:ea typeface="Arimo Bold" pitchFamily="34" charset="-122"/>
                <a:cs typeface="Arimo Bold" pitchFamily="34" charset="-120"/>
              </a:rPr>
              <a:t>Canal</a:t>
            </a:r>
            <a:endParaRPr lang="en-US" sz="1050" dirty="0"/>
          </a:p>
        </p:txBody>
      </p:sp>
      <p:sp>
        <p:nvSpPr>
          <p:cNvPr id="25" name="Text 19"/>
          <p:cNvSpPr/>
          <p:nvPr/>
        </p:nvSpPr>
        <p:spPr>
          <a:xfrm>
            <a:off x="7155590" y="3221906"/>
            <a:ext cx="1560537" cy="154409"/>
          </a:xfrm>
          <a:prstGeom prst="rect">
            <a:avLst/>
          </a:prstGeom>
          <a:noFill/>
          <a:ln/>
        </p:spPr>
        <p:txBody>
          <a:bodyPr wrap="none" lIns="0" tIns="0" rIns="0" bIns="0" rtlCol="0" anchor="t"/>
          <a:lstStyle/>
          <a:p>
            <a:pPr marL="0" indent="0" algn="l">
              <a:lnSpc>
                <a:spcPct val="123000"/>
              </a:lnSpc>
              <a:buNone/>
            </a:pPr>
            <a:r>
              <a:rPr lang="en-US" sz="1050" b="1" dirty="0">
                <a:solidFill>
                  <a:srgbClr val="2A2742"/>
                </a:solidFill>
                <a:latin typeface="Arimo Bold" pitchFamily="34" charset="0"/>
                <a:ea typeface="Arimo Bold" pitchFamily="34" charset="-122"/>
                <a:cs typeface="Arimo Bold" pitchFamily="34" charset="-120"/>
              </a:rPr>
              <a:t>Volume</a:t>
            </a:r>
            <a:endParaRPr lang="en-US" sz="1050" dirty="0"/>
          </a:p>
        </p:txBody>
      </p:sp>
      <p:sp>
        <p:nvSpPr>
          <p:cNvPr id="27" name="Text 21"/>
          <p:cNvSpPr/>
          <p:nvPr/>
        </p:nvSpPr>
        <p:spPr>
          <a:xfrm>
            <a:off x="4814292" y="3496568"/>
            <a:ext cx="1560537" cy="154409"/>
          </a:xfrm>
          <a:prstGeom prst="rect">
            <a:avLst/>
          </a:prstGeom>
          <a:noFill/>
          <a:ln/>
        </p:spPr>
        <p:txBody>
          <a:bodyPr wrap="none" lIns="0" tIns="0" rIns="0" bIns="0" rtlCol="0" anchor="t"/>
          <a:lstStyle/>
          <a:p>
            <a:pPr marL="0" indent="0" algn="l">
              <a:lnSpc>
                <a:spcPct val="123000"/>
              </a:lnSpc>
              <a:buNone/>
            </a:pPr>
            <a:r>
              <a:rPr lang="en-US" sz="1000" dirty="0">
                <a:solidFill>
                  <a:srgbClr val="2A2742"/>
                </a:solidFill>
                <a:latin typeface="Arimo" pitchFamily="34" charset="0"/>
                <a:ea typeface="Arimo" pitchFamily="34" charset="-122"/>
                <a:cs typeface="Arimo" pitchFamily="34" charset="-120"/>
              </a:rPr>
              <a:t>Mobile App</a:t>
            </a:r>
            <a:endParaRPr lang="en-US" sz="1000" dirty="0"/>
          </a:p>
        </p:txBody>
      </p:sp>
      <p:sp>
        <p:nvSpPr>
          <p:cNvPr id="28" name="Text 22"/>
          <p:cNvSpPr/>
          <p:nvPr/>
        </p:nvSpPr>
        <p:spPr>
          <a:xfrm>
            <a:off x="7155590" y="3496568"/>
            <a:ext cx="1560537" cy="154409"/>
          </a:xfrm>
          <a:prstGeom prst="rect">
            <a:avLst/>
          </a:prstGeom>
          <a:noFill/>
          <a:ln/>
        </p:spPr>
        <p:txBody>
          <a:bodyPr wrap="none" lIns="0" tIns="0" rIns="0" bIns="0" rtlCol="0" anchor="t"/>
          <a:lstStyle/>
          <a:p>
            <a:pPr marL="0" indent="0" algn="l">
              <a:lnSpc>
                <a:spcPct val="123000"/>
              </a:lnSpc>
              <a:buNone/>
            </a:pPr>
            <a:r>
              <a:rPr lang="en-US" sz="1000" dirty="0" smtClean="0">
                <a:solidFill>
                  <a:srgbClr val="2A2742"/>
                </a:solidFill>
                <a:latin typeface="Arimo" pitchFamily="34" charset="0"/>
                <a:ea typeface="Arimo" pitchFamily="34" charset="-122"/>
                <a:cs typeface="Arimo" pitchFamily="34" charset="-120"/>
              </a:rPr>
              <a:t>37,4 </a:t>
            </a:r>
            <a:r>
              <a:rPr lang="en-US" sz="1000" dirty="0">
                <a:solidFill>
                  <a:srgbClr val="2A2742"/>
                </a:solidFill>
                <a:latin typeface="Arimo" pitchFamily="34" charset="0"/>
                <a:ea typeface="Arimo" pitchFamily="34" charset="-122"/>
                <a:cs typeface="Arimo" pitchFamily="34" charset="-120"/>
              </a:rPr>
              <a:t>%</a:t>
            </a:r>
            <a:endParaRPr lang="en-US" sz="1000" dirty="0"/>
          </a:p>
        </p:txBody>
      </p:sp>
      <p:sp>
        <p:nvSpPr>
          <p:cNvPr id="30" name="Text 24"/>
          <p:cNvSpPr/>
          <p:nvPr/>
        </p:nvSpPr>
        <p:spPr>
          <a:xfrm>
            <a:off x="4814292" y="3771230"/>
            <a:ext cx="1560537" cy="154409"/>
          </a:xfrm>
          <a:prstGeom prst="rect">
            <a:avLst/>
          </a:prstGeom>
          <a:noFill/>
          <a:ln/>
        </p:spPr>
        <p:txBody>
          <a:bodyPr wrap="none" lIns="0" tIns="0" rIns="0" bIns="0" rtlCol="0" anchor="t"/>
          <a:lstStyle/>
          <a:p>
            <a:pPr marL="0" indent="0" algn="l">
              <a:lnSpc>
                <a:spcPct val="123000"/>
              </a:lnSpc>
              <a:buNone/>
            </a:pPr>
            <a:r>
              <a:rPr lang="en-US" sz="1000" dirty="0">
                <a:solidFill>
                  <a:srgbClr val="2A2742"/>
                </a:solidFill>
                <a:latin typeface="Arimo" pitchFamily="34" charset="0"/>
                <a:ea typeface="Arimo" pitchFamily="34" charset="-122"/>
                <a:cs typeface="Arimo" pitchFamily="34" charset="-120"/>
              </a:rPr>
              <a:t>Web</a:t>
            </a:r>
            <a:endParaRPr lang="en-US" sz="1000" dirty="0"/>
          </a:p>
        </p:txBody>
      </p:sp>
      <p:sp>
        <p:nvSpPr>
          <p:cNvPr id="31" name="Text 25"/>
          <p:cNvSpPr/>
          <p:nvPr/>
        </p:nvSpPr>
        <p:spPr>
          <a:xfrm>
            <a:off x="7155590" y="3771230"/>
            <a:ext cx="1560537" cy="154409"/>
          </a:xfrm>
          <a:prstGeom prst="rect">
            <a:avLst/>
          </a:prstGeom>
          <a:noFill/>
          <a:ln/>
        </p:spPr>
        <p:txBody>
          <a:bodyPr wrap="none" lIns="0" tIns="0" rIns="0" bIns="0" rtlCol="0" anchor="t"/>
          <a:lstStyle/>
          <a:p>
            <a:pPr>
              <a:lnSpc>
                <a:spcPct val="123000"/>
              </a:lnSpc>
            </a:pPr>
            <a:r>
              <a:rPr lang="en-US" sz="1000" dirty="0">
                <a:solidFill>
                  <a:srgbClr val="2A2742"/>
                </a:solidFill>
                <a:latin typeface="Arimo" pitchFamily="34" charset="0"/>
                <a:ea typeface="Arimo" pitchFamily="34" charset="-122"/>
                <a:cs typeface="Arimo" pitchFamily="34" charset="-120"/>
              </a:rPr>
              <a:t>22 %</a:t>
            </a:r>
            <a:endParaRPr lang="en-US" sz="1000" dirty="0"/>
          </a:p>
        </p:txBody>
      </p:sp>
      <p:sp>
        <p:nvSpPr>
          <p:cNvPr id="33" name="Text 27"/>
          <p:cNvSpPr/>
          <p:nvPr/>
        </p:nvSpPr>
        <p:spPr>
          <a:xfrm>
            <a:off x="4814292" y="4045893"/>
            <a:ext cx="1560537" cy="154409"/>
          </a:xfrm>
          <a:prstGeom prst="rect">
            <a:avLst/>
          </a:prstGeom>
          <a:noFill/>
          <a:ln/>
        </p:spPr>
        <p:txBody>
          <a:bodyPr wrap="none" lIns="0" tIns="0" rIns="0" bIns="0" rtlCol="0" anchor="t"/>
          <a:lstStyle/>
          <a:p>
            <a:pPr marL="0" indent="0" algn="l">
              <a:lnSpc>
                <a:spcPct val="123000"/>
              </a:lnSpc>
              <a:buNone/>
            </a:pPr>
            <a:r>
              <a:rPr lang="en-US" sz="1000" dirty="0">
                <a:solidFill>
                  <a:srgbClr val="2A2742"/>
                </a:solidFill>
                <a:latin typeface="Arimo" pitchFamily="34" charset="0"/>
                <a:ea typeface="Arimo" pitchFamily="34" charset="-122"/>
                <a:cs typeface="Arimo" pitchFamily="34" charset="-120"/>
              </a:rPr>
              <a:t>API</a:t>
            </a:r>
            <a:endParaRPr lang="en-US" sz="1000" dirty="0"/>
          </a:p>
        </p:txBody>
      </p:sp>
      <p:sp>
        <p:nvSpPr>
          <p:cNvPr id="34" name="Text 28"/>
          <p:cNvSpPr/>
          <p:nvPr/>
        </p:nvSpPr>
        <p:spPr>
          <a:xfrm>
            <a:off x="7155590" y="4045893"/>
            <a:ext cx="1560537" cy="154409"/>
          </a:xfrm>
          <a:prstGeom prst="rect">
            <a:avLst/>
          </a:prstGeom>
          <a:noFill/>
          <a:ln/>
        </p:spPr>
        <p:txBody>
          <a:bodyPr wrap="none" lIns="0" tIns="0" rIns="0" bIns="0" rtlCol="0" anchor="t"/>
          <a:lstStyle/>
          <a:p>
            <a:pPr marL="0" indent="0" algn="l">
              <a:lnSpc>
                <a:spcPct val="123000"/>
              </a:lnSpc>
              <a:buNone/>
            </a:pPr>
            <a:r>
              <a:rPr lang="en-US" sz="1000" dirty="0">
                <a:solidFill>
                  <a:srgbClr val="2A2742"/>
                </a:solidFill>
                <a:latin typeface="Arimo" pitchFamily="34" charset="0"/>
                <a:ea typeface="Arimo" pitchFamily="34" charset="-122"/>
                <a:cs typeface="Arimo" pitchFamily="34" charset="-120"/>
              </a:rPr>
              <a:t>7 %</a:t>
            </a:r>
            <a:endParaRPr lang="en-US" sz="1000" dirty="0"/>
          </a:p>
        </p:txBody>
      </p:sp>
      <p:sp>
        <p:nvSpPr>
          <p:cNvPr id="36" name="Text 30"/>
          <p:cNvSpPr/>
          <p:nvPr/>
        </p:nvSpPr>
        <p:spPr>
          <a:xfrm>
            <a:off x="4704383" y="4362152"/>
            <a:ext cx="3948261" cy="620986"/>
          </a:xfrm>
          <a:prstGeom prst="rect">
            <a:avLst/>
          </a:prstGeom>
          <a:noFill/>
          <a:ln/>
        </p:spPr>
        <p:txBody>
          <a:bodyPr wrap="square" lIns="0" tIns="0" rIns="0" bIns="0" rtlCol="0" anchor="t">
            <a:noAutofit/>
          </a:bodyPr>
          <a:lstStyle/>
          <a:p>
            <a:pPr marL="0" indent="0" algn="l">
              <a:lnSpc>
                <a:spcPct val="123000"/>
              </a:lnSpc>
              <a:buNone/>
            </a:pPr>
            <a:r>
              <a:rPr lang="en-US" sz="1000" dirty="0">
                <a:solidFill>
                  <a:srgbClr val="2A2742"/>
                </a:solidFill>
                <a:latin typeface="Arimo" pitchFamily="34" charset="0"/>
                <a:ea typeface="Arimo" pitchFamily="34" charset="-122"/>
                <a:cs typeface="Arimo" pitchFamily="34" charset="-120"/>
              </a:rPr>
              <a:t>Les interfaces distantes automatisées (API, Web) constituent les </a:t>
            </a:r>
            <a:r>
              <a:rPr lang="en-US" sz="1000" b="1" dirty="0">
                <a:solidFill>
                  <a:srgbClr val="2A2742"/>
                </a:solidFill>
                <a:latin typeface="Arimo Bold" pitchFamily="34" charset="0"/>
                <a:ea typeface="Arimo Bold" pitchFamily="34" charset="-122"/>
                <a:cs typeface="Arimo Bold" pitchFamily="34" charset="-120"/>
              </a:rPr>
              <a:t>vecteurs d'attaque prioritaires</a:t>
            </a:r>
            <a:r>
              <a:rPr lang="en-US" sz="1000" dirty="0">
                <a:solidFill>
                  <a:srgbClr val="2A2742"/>
                </a:solidFill>
                <a:latin typeface="Arimo" pitchFamily="34" charset="0"/>
                <a:ea typeface="Arimo" pitchFamily="34" charset="-122"/>
                <a:cs typeface="Arimo" pitchFamily="34" charset="-120"/>
              </a:rPr>
              <a:t>.</a:t>
            </a:r>
            <a:endParaRPr lang="en-US" sz="1000" dirty="0"/>
          </a:p>
        </p:txBody>
      </p:sp>
    </p:spTree>
    <p:extLst>
      <p:ext uri="{BB962C8B-B14F-4D97-AF65-F5344CB8AC3E}">
        <p14:creationId xmlns:p14="http://schemas.microsoft.com/office/powerpoint/2010/main" val="277091564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496119" y="590996"/>
            <a:ext cx="8151763" cy="387548"/>
          </a:xfrm>
          <a:prstGeom prst="rect">
            <a:avLst/>
          </a:prstGeom>
          <a:noFill/>
          <a:ln/>
        </p:spPr>
        <p:txBody>
          <a:bodyPr wrap="none" lIns="0" tIns="0" rIns="0" bIns="0" rtlCol="0" anchor="t"/>
          <a:lstStyle/>
          <a:p>
            <a:pPr>
              <a:lnSpc>
                <a:spcPct val="104000"/>
              </a:lnSpc>
            </a:pPr>
            <a:r>
              <a:rPr lang="en-US" sz="2400" dirty="0">
                <a:solidFill>
                  <a:srgbClr val="231971"/>
                </a:solidFill>
                <a:latin typeface="Outfit ExtraBold" pitchFamily="34" charset="0"/>
                <a:ea typeface="Outfit ExtraBold" pitchFamily="34" charset="-122"/>
                <a:cs typeface="Outfit ExtraBold" pitchFamily="34" charset="-120"/>
              </a:rPr>
              <a:t>MODÉLISATION</a:t>
            </a:r>
            <a:endParaRPr lang="en-US" sz="2400" dirty="0"/>
          </a:p>
        </p:txBody>
      </p:sp>
      <p:sp>
        <p:nvSpPr>
          <p:cNvPr id="5" name="Text 3"/>
          <p:cNvSpPr/>
          <p:nvPr/>
        </p:nvSpPr>
        <p:spPr>
          <a:xfrm>
            <a:off x="496119" y="1288554"/>
            <a:ext cx="3924598" cy="193849"/>
          </a:xfrm>
          <a:prstGeom prst="rect">
            <a:avLst/>
          </a:prstGeom>
          <a:noFill/>
          <a:ln/>
        </p:spPr>
        <p:txBody>
          <a:bodyPr wrap="none" lIns="0" tIns="0" rIns="0" bIns="0" rtlCol="0" anchor="t"/>
          <a:lstStyle/>
          <a:p>
            <a:pPr marL="0" indent="0" algn="l">
              <a:lnSpc>
                <a:spcPct val="104000"/>
              </a:lnSpc>
              <a:buNone/>
            </a:pPr>
            <a:r>
              <a:rPr lang="en-US" sz="1200" dirty="0">
                <a:solidFill>
                  <a:srgbClr val="231971"/>
                </a:solidFill>
                <a:latin typeface="Outfit ExtraBold" pitchFamily="34" charset="0"/>
                <a:ea typeface="Outfit ExtraBold" pitchFamily="34" charset="-122"/>
                <a:cs typeface="Outfit ExtraBold" pitchFamily="34" charset="-120"/>
              </a:rPr>
              <a:t>Paramètres </a:t>
            </a:r>
            <a:r>
              <a:rPr lang="en-US" sz="1400" dirty="0">
                <a:solidFill>
                  <a:srgbClr val="231971"/>
                </a:solidFill>
                <a:latin typeface="Outfit ExtraBold" pitchFamily="34" charset="0"/>
                <a:ea typeface="Outfit ExtraBold" pitchFamily="34" charset="-122"/>
                <a:cs typeface="Outfit ExtraBold" pitchFamily="34" charset="-120"/>
              </a:rPr>
              <a:t>clés</a:t>
            </a:r>
            <a:endParaRPr lang="en-US" sz="1200" dirty="0"/>
          </a:p>
        </p:txBody>
      </p:sp>
      <p:sp>
        <p:nvSpPr>
          <p:cNvPr id="6" name="Text 4"/>
          <p:cNvSpPr/>
          <p:nvPr/>
        </p:nvSpPr>
        <p:spPr>
          <a:xfrm>
            <a:off x="496119" y="1606376"/>
            <a:ext cx="3924598" cy="1302395"/>
          </a:xfrm>
          <a:prstGeom prst="rect">
            <a:avLst/>
          </a:prstGeom>
          <a:noFill/>
          <a:ln/>
        </p:spPr>
        <p:txBody>
          <a:bodyPr wrap="square" lIns="0" tIns="0" rIns="0" bIns="0" rtlCol="0" anchor="t">
            <a:noAutofit/>
          </a:bodyPr>
          <a:lstStyle/>
          <a:p>
            <a:pPr marL="0" indent="0" algn="just">
              <a:lnSpc>
                <a:spcPct val="133000"/>
              </a:lnSpc>
              <a:spcAft>
                <a:spcPts val="850"/>
              </a:spcAft>
              <a:buNone/>
            </a:pPr>
            <a:r>
              <a:rPr lang="en-US" sz="1100" b="1" dirty="0">
                <a:solidFill>
                  <a:srgbClr val="2A2742"/>
                </a:solidFill>
                <a:latin typeface="Arimo Bold" pitchFamily="34" charset="0"/>
                <a:ea typeface="Arimo Bold" pitchFamily="34" charset="-122"/>
                <a:cs typeface="Arimo Bold" pitchFamily="34" charset="-120"/>
              </a:rPr>
              <a:t>Isolation Forest</a:t>
            </a:r>
            <a:r>
              <a:rPr lang="en-US" sz="1100" dirty="0">
                <a:solidFill>
                  <a:srgbClr val="2A2742"/>
                </a:solidFill>
                <a:latin typeface="Arimo" pitchFamily="34" charset="0"/>
                <a:ea typeface="Arimo" pitchFamily="34" charset="-122"/>
                <a:cs typeface="Arimo" pitchFamily="34" charset="-120"/>
              </a:rPr>
              <a:t> : </a:t>
            </a:r>
            <a:r>
              <a:rPr lang="en-US" sz="1100" dirty="0" err="1" smtClean="0">
                <a:solidFill>
                  <a:srgbClr val="2A2742"/>
                </a:solidFill>
                <a:latin typeface="Arimo" pitchFamily="34" charset="0"/>
                <a:ea typeface="Arimo" pitchFamily="34" charset="-122"/>
                <a:cs typeface="Arimo" pitchFamily="34" charset="-120"/>
              </a:rPr>
              <a:t>n_estimators</a:t>
            </a:r>
            <a:r>
              <a:rPr lang="en-US" sz="1100" dirty="0" smtClean="0">
                <a:solidFill>
                  <a:srgbClr val="2A2742"/>
                </a:solidFill>
                <a:latin typeface="Arimo" pitchFamily="34" charset="0"/>
                <a:ea typeface="Arimo" pitchFamily="34" charset="-122"/>
                <a:cs typeface="Arimo" pitchFamily="34" charset="-120"/>
              </a:rPr>
              <a:t>, contamination, </a:t>
            </a:r>
            <a:r>
              <a:rPr lang="en-US" sz="1100" dirty="0">
                <a:solidFill>
                  <a:srgbClr val="2A2742"/>
                </a:solidFill>
                <a:latin typeface="Arimo" pitchFamily="34" charset="0"/>
                <a:ea typeface="Arimo" pitchFamily="34" charset="-122"/>
                <a:cs typeface="Arimo" pitchFamily="34" charset="-120"/>
              </a:rPr>
              <a:t>seuil de </a:t>
            </a:r>
            <a:r>
              <a:rPr lang="en-US" sz="1100" dirty="0" err="1">
                <a:solidFill>
                  <a:srgbClr val="2A2742"/>
                </a:solidFill>
                <a:latin typeface="Arimo" pitchFamily="34" charset="0"/>
                <a:ea typeface="Arimo" pitchFamily="34" charset="-122"/>
                <a:cs typeface="Arimo" pitchFamily="34" charset="-120"/>
              </a:rPr>
              <a:t>décision</a:t>
            </a:r>
            <a:r>
              <a:rPr lang="en-US" sz="1100" dirty="0">
                <a:solidFill>
                  <a:srgbClr val="2A2742"/>
                </a:solidFill>
                <a:latin typeface="Arimo" pitchFamily="34" charset="0"/>
                <a:ea typeface="Arimo" pitchFamily="34" charset="-122"/>
                <a:cs typeface="Arimo" pitchFamily="34" charset="-120"/>
              </a:rPr>
              <a:t> </a:t>
            </a:r>
            <a:r>
              <a:rPr lang="en-US" sz="1100" dirty="0" err="1" smtClean="0">
                <a:solidFill>
                  <a:srgbClr val="2A2742"/>
                </a:solidFill>
                <a:latin typeface="Arimo" pitchFamily="34" charset="0"/>
                <a:ea typeface="Arimo" pitchFamily="34" charset="-122"/>
                <a:cs typeface="Arimo" pitchFamily="34" charset="-120"/>
              </a:rPr>
              <a:t>calibré</a:t>
            </a:r>
            <a:r>
              <a:rPr lang="en-US" sz="1100" dirty="0" smtClean="0">
                <a:solidFill>
                  <a:srgbClr val="2A2742"/>
                </a:solidFill>
                <a:latin typeface="Arimo" pitchFamily="34" charset="0"/>
                <a:ea typeface="Arimo" pitchFamily="34" charset="-122"/>
                <a:cs typeface="Arimo" pitchFamily="34" charset="-120"/>
              </a:rPr>
              <a:t>. </a:t>
            </a:r>
            <a:r>
              <a:rPr lang="en-US" sz="1100" dirty="0">
                <a:solidFill>
                  <a:srgbClr val="2A2742"/>
                </a:solidFill>
                <a:latin typeface="Arimo" pitchFamily="34" charset="0"/>
                <a:ea typeface="Arimo" pitchFamily="34" charset="-122"/>
                <a:cs typeface="Arimo" pitchFamily="34" charset="-120"/>
              </a:rPr>
              <a:t>Isole les anomalies par partitions aléatoires successives.</a:t>
            </a:r>
            <a:endParaRPr lang="en-US" sz="1100" dirty="0"/>
          </a:p>
          <a:p>
            <a:pPr marL="0" indent="0" algn="just">
              <a:lnSpc>
                <a:spcPct val="133000"/>
              </a:lnSpc>
              <a:buNone/>
            </a:pPr>
            <a:r>
              <a:rPr lang="en-US" sz="1100" b="1" dirty="0">
                <a:solidFill>
                  <a:srgbClr val="2A2742"/>
                </a:solidFill>
                <a:latin typeface="Arimo Bold" pitchFamily="34" charset="0"/>
                <a:ea typeface="Arimo Bold" pitchFamily="34" charset="-122"/>
                <a:cs typeface="Arimo Bold" pitchFamily="34" charset="-120"/>
              </a:rPr>
              <a:t>DBSCAN</a:t>
            </a:r>
            <a:r>
              <a:rPr lang="en-US" sz="1100" dirty="0">
                <a:solidFill>
                  <a:srgbClr val="2A2742"/>
                </a:solidFill>
                <a:latin typeface="Arimo" pitchFamily="34" charset="0"/>
                <a:ea typeface="Arimo" pitchFamily="34" charset="-122"/>
                <a:cs typeface="Arimo" pitchFamily="34" charset="-120"/>
              </a:rPr>
              <a:t> : </a:t>
            </a:r>
            <a:r>
              <a:rPr lang="en-US" sz="1100" dirty="0" smtClean="0">
                <a:solidFill>
                  <a:srgbClr val="2A2742"/>
                </a:solidFill>
                <a:latin typeface="Arimo" pitchFamily="34" charset="0"/>
                <a:ea typeface="Arimo" pitchFamily="34" charset="-122"/>
                <a:cs typeface="Arimo" pitchFamily="34" charset="-120"/>
              </a:rPr>
              <a:t>eps, </a:t>
            </a:r>
            <a:r>
              <a:rPr lang="en-US" sz="1100" dirty="0" err="1" smtClean="0">
                <a:solidFill>
                  <a:srgbClr val="2A2742"/>
                </a:solidFill>
                <a:latin typeface="Arimo" pitchFamily="34" charset="0"/>
                <a:ea typeface="Arimo" pitchFamily="34" charset="-122"/>
                <a:cs typeface="Arimo" pitchFamily="34" charset="-120"/>
              </a:rPr>
              <a:t>min_samples</a:t>
            </a:r>
            <a:r>
              <a:rPr lang="en-US" sz="1100" dirty="0" smtClean="0">
                <a:solidFill>
                  <a:srgbClr val="2A2742"/>
                </a:solidFill>
                <a:latin typeface="Arimo" pitchFamily="34" charset="0"/>
                <a:ea typeface="Arimo" pitchFamily="34" charset="-122"/>
                <a:cs typeface="Arimo" pitchFamily="34" charset="-120"/>
              </a:rPr>
              <a:t>. </a:t>
            </a:r>
            <a:r>
              <a:rPr lang="en-US" sz="1100" dirty="0">
                <a:solidFill>
                  <a:srgbClr val="2A2742"/>
                </a:solidFill>
                <a:latin typeface="Arimo" pitchFamily="34" charset="0"/>
                <a:ea typeface="Arimo" pitchFamily="34" charset="-122"/>
                <a:cs typeface="Arimo" pitchFamily="34" charset="-120"/>
              </a:rPr>
              <a:t>Approche par densité géométrique, 38 258 anomalies potentielles détectées pour validation croisée.</a:t>
            </a:r>
            <a:endParaRPr lang="en-US" sz="1100" dirty="0"/>
          </a:p>
        </p:txBody>
      </p:sp>
      <p:sp>
        <p:nvSpPr>
          <p:cNvPr id="7" name="Text 5"/>
          <p:cNvSpPr/>
          <p:nvPr/>
        </p:nvSpPr>
        <p:spPr>
          <a:xfrm>
            <a:off x="6033939" y="1972828"/>
            <a:ext cx="3924598" cy="193849"/>
          </a:xfrm>
          <a:prstGeom prst="rect">
            <a:avLst/>
          </a:prstGeom>
          <a:noFill/>
          <a:ln/>
        </p:spPr>
        <p:txBody>
          <a:bodyPr wrap="none" lIns="0" tIns="0" rIns="0" bIns="0" rtlCol="0" anchor="t"/>
          <a:lstStyle/>
          <a:p>
            <a:pPr marL="0" indent="0" algn="l">
              <a:lnSpc>
                <a:spcPct val="104000"/>
              </a:lnSpc>
              <a:buNone/>
            </a:pPr>
            <a:r>
              <a:rPr lang="en-US" sz="1400" dirty="0">
                <a:solidFill>
                  <a:srgbClr val="231971"/>
                </a:solidFill>
                <a:latin typeface="Outfit ExtraBold" pitchFamily="34" charset="0"/>
                <a:ea typeface="Outfit ExtraBold" pitchFamily="34" charset="-122"/>
                <a:cs typeface="Outfit ExtraBold" pitchFamily="34" charset="-120"/>
              </a:rPr>
              <a:t>Évaluation</a:t>
            </a:r>
            <a:r>
              <a:rPr lang="en-US" sz="1200" dirty="0">
                <a:solidFill>
                  <a:srgbClr val="231971"/>
                </a:solidFill>
                <a:latin typeface="Outfit ExtraBold" pitchFamily="34" charset="0"/>
                <a:ea typeface="Outfit ExtraBold" pitchFamily="34" charset="-122"/>
                <a:cs typeface="Outfit ExtraBold" pitchFamily="34" charset="-120"/>
              </a:rPr>
              <a:t> comparative</a:t>
            </a:r>
            <a:endParaRPr lang="en-US" sz="1200" dirty="0"/>
          </a:p>
        </p:txBody>
      </p:sp>
      <p:sp>
        <p:nvSpPr>
          <p:cNvPr id="12" name="Shape 10"/>
          <p:cNvSpPr/>
          <p:nvPr/>
        </p:nvSpPr>
        <p:spPr>
          <a:xfrm>
            <a:off x="7342733" y="1621929"/>
            <a:ext cx="7753" cy="1089496"/>
          </a:xfrm>
          <a:prstGeom prst="rect">
            <a:avLst/>
          </a:prstGeom>
          <a:solidFill>
            <a:srgbClr val="000000">
              <a:alpha val="8000"/>
            </a:srgbClr>
          </a:solidFill>
          <a:ln/>
        </p:spPr>
      </p:sp>
      <p:sp>
        <p:nvSpPr>
          <p:cNvPr id="23" name="Text 21"/>
          <p:cNvSpPr/>
          <p:nvPr/>
        </p:nvSpPr>
        <p:spPr>
          <a:xfrm>
            <a:off x="496119" y="3561011"/>
            <a:ext cx="2613868" cy="409352"/>
          </a:xfrm>
          <a:prstGeom prst="rect">
            <a:avLst/>
          </a:prstGeom>
          <a:noFill/>
          <a:ln/>
        </p:spPr>
        <p:txBody>
          <a:bodyPr wrap="none" lIns="0" tIns="0" rIns="0" bIns="0" rtlCol="0" anchor="t"/>
          <a:lstStyle/>
          <a:p>
            <a:pPr marL="0" indent="0" algn="ctr">
              <a:lnSpc>
                <a:spcPct val="83000"/>
              </a:lnSpc>
              <a:buNone/>
            </a:pPr>
            <a:r>
              <a:rPr lang="en-US" sz="3200" dirty="0" smtClean="0">
                <a:solidFill>
                  <a:srgbClr val="2A2742"/>
                </a:solidFill>
                <a:latin typeface="Outfit ExtraBold" pitchFamily="34" charset="0"/>
                <a:ea typeface="Outfit ExtraBold" pitchFamily="34" charset="-122"/>
                <a:cs typeface="Outfit ExtraBold" pitchFamily="34" charset="-120"/>
              </a:rPr>
              <a:t>+85</a:t>
            </a:r>
            <a:r>
              <a:rPr lang="en-US" sz="3200" dirty="0">
                <a:solidFill>
                  <a:srgbClr val="2A2742"/>
                </a:solidFill>
                <a:latin typeface="Outfit ExtraBold" pitchFamily="34" charset="0"/>
                <a:ea typeface="Outfit ExtraBold" pitchFamily="34" charset="-122"/>
                <a:cs typeface="Outfit ExtraBold" pitchFamily="34" charset="-120"/>
              </a:rPr>
              <a:t>%</a:t>
            </a:r>
            <a:endParaRPr lang="en-US" sz="3200" dirty="0"/>
          </a:p>
        </p:txBody>
      </p:sp>
      <p:sp>
        <p:nvSpPr>
          <p:cNvPr id="24" name="Text 22"/>
          <p:cNvSpPr/>
          <p:nvPr/>
        </p:nvSpPr>
        <p:spPr>
          <a:xfrm>
            <a:off x="496119" y="4125367"/>
            <a:ext cx="2613868" cy="193849"/>
          </a:xfrm>
          <a:prstGeom prst="rect">
            <a:avLst/>
          </a:prstGeom>
          <a:noFill/>
          <a:ln/>
        </p:spPr>
        <p:txBody>
          <a:bodyPr wrap="none" lIns="0" tIns="0" rIns="0" bIns="0" rtlCol="0" anchor="t"/>
          <a:lstStyle/>
          <a:p>
            <a:pPr marL="0" indent="0" algn="ctr">
              <a:lnSpc>
                <a:spcPct val="104000"/>
              </a:lnSpc>
              <a:buNone/>
            </a:pPr>
            <a:r>
              <a:rPr lang="en-US" sz="1200" dirty="0">
                <a:solidFill>
                  <a:srgbClr val="2A2742"/>
                </a:solidFill>
                <a:latin typeface="Outfit ExtraBold" pitchFamily="34" charset="0"/>
                <a:ea typeface="Outfit ExtraBold" pitchFamily="34" charset="-122"/>
                <a:cs typeface="Outfit ExtraBold" pitchFamily="34" charset="-120"/>
              </a:rPr>
              <a:t>Fraudes détectées</a:t>
            </a:r>
            <a:endParaRPr lang="en-US" sz="1200" dirty="0"/>
          </a:p>
        </p:txBody>
      </p:sp>
      <p:sp>
        <p:nvSpPr>
          <p:cNvPr id="25" name="Text 23"/>
          <p:cNvSpPr/>
          <p:nvPr/>
        </p:nvSpPr>
        <p:spPr>
          <a:xfrm>
            <a:off x="496119" y="4393629"/>
            <a:ext cx="2613868" cy="198462"/>
          </a:xfrm>
          <a:prstGeom prst="rect">
            <a:avLst/>
          </a:prstGeom>
          <a:noFill/>
          <a:ln/>
        </p:spPr>
        <p:txBody>
          <a:bodyPr wrap="none" lIns="0" tIns="0" rIns="0" bIns="0" rtlCol="0" anchor="t"/>
          <a:lstStyle/>
          <a:p>
            <a:pPr marL="0" indent="0" algn="ctr">
              <a:lnSpc>
                <a:spcPct val="133000"/>
              </a:lnSpc>
              <a:buNone/>
            </a:pPr>
            <a:r>
              <a:rPr lang="en-US" sz="950" dirty="0">
                <a:solidFill>
                  <a:srgbClr val="2A2742"/>
                </a:solidFill>
                <a:latin typeface="Arimo" pitchFamily="34" charset="0"/>
                <a:ea typeface="Arimo" pitchFamily="34" charset="-122"/>
                <a:cs typeface="Arimo" pitchFamily="34" charset="-120"/>
              </a:rPr>
              <a:t>Taux de rappel effectif sur le jeu de validation</a:t>
            </a:r>
            <a:endParaRPr lang="en-US" sz="950" dirty="0"/>
          </a:p>
        </p:txBody>
      </p:sp>
      <p:sp>
        <p:nvSpPr>
          <p:cNvPr id="29" name="Text 27"/>
          <p:cNvSpPr/>
          <p:nvPr/>
        </p:nvSpPr>
        <p:spPr>
          <a:xfrm>
            <a:off x="6033939" y="3561011"/>
            <a:ext cx="2613943" cy="409352"/>
          </a:xfrm>
          <a:prstGeom prst="rect">
            <a:avLst/>
          </a:prstGeom>
          <a:noFill/>
          <a:ln/>
        </p:spPr>
        <p:txBody>
          <a:bodyPr wrap="none" lIns="0" tIns="0" rIns="0" bIns="0" rtlCol="0" anchor="t"/>
          <a:lstStyle/>
          <a:p>
            <a:pPr marL="0" indent="0" algn="ctr">
              <a:lnSpc>
                <a:spcPct val="83000"/>
              </a:lnSpc>
              <a:buNone/>
            </a:pPr>
            <a:r>
              <a:rPr lang="en-US" sz="3200" dirty="0">
                <a:solidFill>
                  <a:srgbClr val="2A2742"/>
                </a:solidFill>
                <a:latin typeface="Outfit ExtraBold" pitchFamily="34" charset="0"/>
                <a:ea typeface="Outfit ExtraBold" pitchFamily="34" charset="-122"/>
                <a:cs typeface="Outfit ExtraBold" pitchFamily="34" charset="-120"/>
              </a:rPr>
              <a:t>3</a:t>
            </a:r>
            <a:endParaRPr lang="en-US" sz="3200" dirty="0"/>
          </a:p>
        </p:txBody>
      </p:sp>
      <p:sp>
        <p:nvSpPr>
          <p:cNvPr id="30" name="Text 28"/>
          <p:cNvSpPr/>
          <p:nvPr/>
        </p:nvSpPr>
        <p:spPr>
          <a:xfrm>
            <a:off x="6033939" y="4125367"/>
            <a:ext cx="2613943" cy="193849"/>
          </a:xfrm>
          <a:prstGeom prst="rect">
            <a:avLst/>
          </a:prstGeom>
          <a:noFill/>
          <a:ln/>
        </p:spPr>
        <p:txBody>
          <a:bodyPr wrap="none" lIns="0" tIns="0" rIns="0" bIns="0" rtlCol="0" anchor="t"/>
          <a:lstStyle/>
          <a:p>
            <a:pPr marL="0" indent="0" algn="ctr">
              <a:lnSpc>
                <a:spcPct val="104000"/>
              </a:lnSpc>
              <a:buNone/>
            </a:pPr>
            <a:r>
              <a:rPr lang="en-US" sz="1200" dirty="0">
                <a:solidFill>
                  <a:srgbClr val="2A2742"/>
                </a:solidFill>
                <a:latin typeface="Outfit ExtraBold" pitchFamily="34" charset="0"/>
                <a:ea typeface="Outfit ExtraBold" pitchFamily="34" charset="-122"/>
                <a:cs typeface="Outfit ExtraBold" pitchFamily="34" charset="-120"/>
              </a:rPr>
              <a:t>Niveaux de risque</a:t>
            </a:r>
            <a:endParaRPr lang="en-US" sz="1200" dirty="0"/>
          </a:p>
        </p:txBody>
      </p:sp>
      <p:sp>
        <p:nvSpPr>
          <p:cNvPr id="31" name="Text 29"/>
          <p:cNvSpPr/>
          <p:nvPr/>
        </p:nvSpPr>
        <p:spPr>
          <a:xfrm>
            <a:off x="6033939" y="4393629"/>
            <a:ext cx="2613943" cy="396925"/>
          </a:xfrm>
          <a:prstGeom prst="rect">
            <a:avLst/>
          </a:prstGeom>
          <a:noFill/>
          <a:ln/>
        </p:spPr>
        <p:txBody>
          <a:bodyPr wrap="square" lIns="0" tIns="0" rIns="0" bIns="0" rtlCol="0" anchor="t">
            <a:normAutofit/>
          </a:bodyPr>
          <a:lstStyle/>
          <a:p>
            <a:pPr marL="0" indent="0" algn="ctr">
              <a:lnSpc>
                <a:spcPct val="133000"/>
              </a:lnSpc>
              <a:buNone/>
            </a:pPr>
            <a:r>
              <a:rPr lang="en-US" sz="950" dirty="0">
                <a:solidFill>
                  <a:srgbClr val="2A2742"/>
                </a:solidFill>
                <a:latin typeface="Arimo" pitchFamily="34" charset="0"/>
                <a:ea typeface="Arimo" pitchFamily="34" charset="-122"/>
                <a:cs typeface="Arimo" pitchFamily="34" charset="-120"/>
              </a:rPr>
              <a:t>Faible, Moyen, </a:t>
            </a:r>
            <a:r>
              <a:rPr lang="en-US" sz="950" dirty="0" err="1">
                <a:solidFill>
                  <a:srgbClr val="2A2742"/>
                </a:solidFill>
                <a:latin typeface="Arimo" pitchFamily="34" charset="0"/>
                <a:ea typeface="Arimo" pitchFamily="34" charset="-122"/>
                <a:cs typeface="Arimo" pitchFamily="34" charset="-120"/>
              </a:rPr>
              <a:t>Élevé</a:t>
            </a:r>
            <a:r>
              <a:rPr lang="en-US" sz="950" dirty="0">
                <a:solidFill>
                  <a:srgbClr val="2A2742"/>
                </a:solidFill>
                <a:latin typeface="Arimo" pitchFamily="34" charset="0"/>
                <a:ea typeface="Arimo" pitchFamily="34" charset="-122"/>
                <a:cs typeface="Arimo" pitchFamily="34" charset="-120"/>
              </a:rPr>
              <a:t> </a:t>
            </a:r>
            <a:r>
              <a:rPr lang="en-US" sz="950" dirty="0" smtClean="0">
                <a:solidFill>
                  <a:srgbClr val="2A2742"/>
                </a:solidFill>
                <a:latin typeface="Arimo" pitchFamily="34" charset="0"/>
                <a:ea typeface="Arimo" pitchFamily="34" charset="-122"/>
                <a:cs typeface="Arimo" pitchFamily="34" charset="-120"/>
              </a:rPr>
              <a:t>- </a:t>
            </a:r>
            <a:r>
              <a:rPr lang="en-US" sz="950" dirty="0">
                <a:solidFill>
                  <a:srgbClr val="2A2742"/>
                </a:solidFill>
                <a:latin typeface="Arimo" pitchFamily="34" charset="0"/>
                <a:ea typeface="Arimo" pitchFamily="34" charset="-122"/>
                <a:cs typeface="Arimo" pitchFamily="34" charset="-120"/>
              </a:rPr>
              <a:t>pour prioriser les enquêtes</a:t>
            </a:r>
            <a:endParaRPr lang="en-US" sz="950" dirty="0"/>
          </a:p>
        </p:txBody>
      </p:sp>
    </p:spTree>
    <p:extLst>
      <p:ext uri="{BB962C8B-B14F-4D97-AF65-F5344CB8AC3E}">
        <p14:creationId xmlns:p14="http://schemas.microsoft.com/office/powerpoint/2010/main" val="22660394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2"/>
          <p:cNvSpPr/>
          <p:nvPr/>
        </p:nvSpPr>
        <p:spPr>
          <a:xfrm>
            <a:off x="2519772" y="563166"/>
            <a:ext cx="4104456" cy="379809"/>
          </a:xfrm>
          <a:prstGeom prst="rect">
            <a:avLst/>
          </a:prstGeom>
          <a:noFill/>
          <a:ln/>
        </p:spPr>
        <p:txBody>
          <a:bodyPr wrap="square" lIns="0" tIns="0" rIns="0" bIns="0" rtlCol="0" anchor="t">
            <a:normAutofit/>
          </a:bodyPr>
          <a:lstStyle/>
          <a:p>
            <a:pPr>
              <a:lnSpc>
                <a:spcPct val="104000"/>
              </a:lnSpc>
            </a:pPr>
            <a:r>
              <a:rPr lang="en-US" sz="2100" dirty="0">
                <a:solidFill>
                  <a:srgbClr val="231971"/>
                </a:solidFill>
                <a:latin typeface="Outfit ExtraBold" pitchFamily="34" charset="0"/>
                <a:ea typeface="Outfit ExtraBold" pitchFamily="34" charset="-122"/>
                <a:cs typeface="Outfit ExtraBold" pitchFamily="34" charset="-120"/>
              </a:rPr>
              <a:t>OPPORTUNITÉS </a:t>
            </a:r>
            <a:r>
              <a:rPr lang="en-US" sz="2100" dirty="0" smtClean="0">
                <a:solidFill>
                  <a:srgbClr val="231971"/>
                </a:solidFill>
                <a:latin typeface="Outfit ExtraBold" pitchFamily="34" charset="0"/>
                <a:ea typeface="Outfit ExtraBold" pitchFamily="34" charset="-122"/>
                <a:cs typeface="Outfit ExtraBold" pitchFamily="34" charset="-120"/>
              </a:rPr>
              <a:t>ET </a:t>
            </a:r>
            <a:r>
              <a:rPr lang="en-US" sz="2100" dirty="0">
                <a:solidFill>
                  <a:srgbClr val="231971"/>
                </a:solidFill>
                <a:latin typeface="Outfit ExtraBold" pitchFamily="34" charset="0"/>
                <a:ea typeface="Outfit ExtraBold" pitchFamily="34" charset="-122"/>
                <a:cs typeface="Outfit ExtraBold" pitchFamily="34" charset="-120"/>
              </a:rPr>
              <a:t>BÉNÉFICES</a:t>
            </a:r>
          </a:p>
        </p:txBody>
      </p:sp>
      <p:sp>
        <p:nvSpPr>
          <p:cNvPr id="6" name="Shape 3"/>
          <p:cNvSpPr/>
          <p:nvPr/>
        </p:nvSpPr>
        <p:spPr>
          <a:xfrm>
            <a:off x="2239194" y="1383953"/>
            <a:ext cx="4722763" cy="778594"/>
          </a:xfrm>
          <a:prstGeom prst="roundRect">
            <a:avLst>
              <a:gd name="adj" fmla="val 5855"/>
            </a:avLst>
          </a:prstGeom>
          <a:solidFill>
            <a:srgbClr val="E9E6FA"/>
          </a:solidFill>
          <a:ln w="4763">
            <a:solidFill>
              <a:srgbClr val="BDB8DF"/>
            </a:solidFill>
            <a:prstDash val="solid"/>
          </a:ln>
        </p:spPr>
      </p:sp>
      <p:sp>
        <p:nvSpPr>
          <p:cNvPr id="7" name="Text 4"/>
          <p:cNvSpPr/>
          <p:nvPr/>
        </p:nvSpPr>
        <p:spPr>
          <a:xfrm>
            <a:off x="2352452" y="1497211"/>
            <a:ext cx="4496246" cy="169515"/>
          </a:xfrm>
          <a:prstGeom prst="rect">
            <a:avLst/>
          </a:prstGeom>
          <a:noFill/>
          <a:ln/>
        </p:spPr>
        <p:txBody>
          <a:bodyPr wrap="none" lIns="0" tIns="0" rIns="0" bIns="0" rtlCol="0" anchor="t"/>
          <a:lstStyle/>
          <a:p>
            <a:pPr marL="0" indent="0" algn="l">
              <a:lnSpc>
                <a:spcPct val="104000"/>
              </a:lnSpc>
              <a:buNone/>
            </a:pPr>
            <a:r>
              <a:rPr lang="en-US" sz="1200" dirty="0">
                <a:solidFill>
                  <a:srgbClr val="2A2742"/>
                </a:solidFill>
                <a:latin typeface="Outfit ExtraBold" pitchFamily="34" charset="0"/>
                <a:ea typeface="Outfit ExtraBold" pitchFamily="34" charset="-122"/>
                <a:cs typeface="Outfit ExtraBold" pitchFamily="34" charset="-120"/>
              </a:rPr>
              <a:t>Inclusion financière</a:t>
            </a:r>
            <a:endParaRPr lang="en-US" sz="1200" dirty="0"/>
          </a:p>
        </p:txBody>
      </p:sp>
      <p:sp>
        <p:nvSpPr>
          <p:cNvPr id="8" name="Text 5"/>
          <p:cNvSpPr/>
          <p:nvPr/>
        </p:nvSpPr>
        <p:spPr>
          <a:xfrm>
            <a:off x="2352452" y="1723653"/>
            <a:ext cx="4496246" cy="325636"/>
          </a:xfrm>
          <a:prstGeom prst="rect">
            <a:avLst/>
          </a:prstGeom>
          <a:noFill/>
          <a:ln/>
        </p:spPr>
        <p:txBody>
          <a:bodyPr wrap="square" lIns="0" tIns="0" rIns="0" bIns="0" rtlCol="0" anchor="t">
            <a:noAutofit/>
          </a:bodyPr>
          <a:lstStyle/>
          <a:p>
            <a:pPr marL="0" indent="0" algn="just">
              <a:lnSpc>
                <a:spcPct val="125000"/>
              </a:lnSpc>
              <a:buNone/>
            </a:pPr>
            <a:r>
              <a:rPr lang="en-US" sz="1050" dirty="0">
                <a:solidFill>
                  <a:srgbClr val="2A2742"/>
                </a:solidFill>
                <a:latin typeface="Arimo" pitchFamily="34" charset="0"/>
                <a:ea typeface="Arimo" pitchFamily="34" charset="-122"/>
                <a:cs typeface="Arimo" pitchFamily="34" charset="-120"/>
              </a:rPr>
              <a:t>Un système sécurisé encouragerait les populations non bancarisées à adopter les services numériques, contribuant à la réduction de la pauvreté.</a:t>
            </a:r>
            <a:endParaRPr lang="en-US" sz="1050" dirty="0"/>
          </a:p>
        </p:txBody>
      </p:sp>
      <p:sp>
        <p:nvSpPr>
          <p:cNvPr id="9" name="Shape 6"/>
          <p:cNvSpPr/>
          <p:nvPr/>
        </p:nvSpPr>
        <p:spPr>
          <a:xfrm>
            <a:off x="2248719" y="2257499"/>
            <a:ext cx="4722763" cy="778594"/>
          </a:xfrm>
          <a:prstGeom prst="roundRect">
            <a:avLst>
              <a:gd name="adj" fmla="val 5855"/>
            </a:avLst>
          </a:prstGeom>
          <a:solidFill>
            <a:srgbClr val="E9E6FA"/>
          </a:solidFill>
          <a:ln w="4763">
            <a:solidFill>
              <a:srgbClr val="BDB8DF"/>
            </a:solidFill>
            <a:prstDash val="solid"/>
          </a:ln>
        </p:spPr>
      </p:sp>
      <p:sp>
        <p:nvSpPr>
          <p:cNvPr id="10" name="Text 7"/>
          <p:cNvSpPr/>
          <p:nvPr/>
        </p:nvSpPr>
        <p:spPr>
          <a:xfrm>
            <a:off x="2352452" y="2370758"/>
            <a:ext cx="4496246" cy="169515"/>
          </a:xfrm>
          <a:prstGeom prst="rect">
            <a:avLst/>
          </a:prstGeom>
          <a:noFill/>
          <a:ln/>
        </p:spPr>
        <p:txBody>
          <a:bodyPr wrap="none" lIns="0" tIns="0" rIns="0" bIns="0" rtlCol="0" anchor="t"/>
          <a:lstStyle/>
          <a:p>
            <a:pPr marL="0" indent="0" algn="l">
              <a:lnSpc>
                <a:spcPct val="104000"/>
              </a:lnSpc>
              <a:buNone/>
            </a:pPr>
            <a:r>
              <a:rPr lang="en-US" sz="1200" dirty="0">
                <a:solidFill>
                  <a:srgbClr val="2A2742"/>
                </a:solidFill>
                <a:latin typeface="Outfit ExtraBold" pitchFamily="34" charset="0"/>
                <a:ea typeface="Outfit ExtraBold" pitchFamily="34" charset="-122"/>
                <a:cs typeface="Outfit ExtraBold" pitchFamily="34" charset="-120"/>
              </a:rPr>
              <a:t>Différenciation concurrentielle</a:t>
            </a:r>
            <a:endParaRPr lang="en-US" sz="1200" dirty="0"/>
          </a:p>
        </p:txBody>
      </p:sp>
      <p:sp>
        <p:nvSpPr>
          <p:cNvPr id="11" name="Text 8"/>
          <p:cNvSpPr/>
          <p:nvPr/>
        </p:nvSpPr>
        <p:spPr>
          <a:xfrm>
            <a:off x="2352452" y="2597200"/>
            <a:ext cx="4496246" cy="325636"/>
          </a:xfrm>
          <a:prstGeom prst="rect">
            <a:avLst/>
          </a:prstGeom>
          <a:noFill/>
          <a:ln/>
        </p:spPr>
        <p:txBody>
          <a:bodyPr wrap="square" lIns="0" tIns="0" rIns="0" bIns="0" rtlCol="0" anchor="t">
            <a:noAutofit/>
          </a:bodyPr>
          <a:lstStyle/>
          <a:p>
            <a:pPr marL="0" indent="0" algn="just">
              <a:lnSpc>
                <a:spcPct val="125000"/>
              </a:lnSpc>
              <a:buNone/>
            </a:pPr>
            <a:r>
              <a:rPr lang="en-US" sz="1000" dirty="0">
                <a:solidFill>
                  <a:srgbClr val="2A2742"/>
                </a:solidFill>
                <a:latin typeface="Arimo" pitchFamily="34" charset="0"/>
                <a:ea typeface="Arimo" pitchFamily="34" charset="-122"/>
                <a:cs typeface="Arimo" pitchFamily="34" charset="-120"/>
              </a:rPr>
              <a:t>Les banques sécurisées gagneront des parts de marché et attireront les investissements étrangers rassurés par un système bancaire fiable.</a:t>
            </a:r>
            <a:endParaRPr lang="en-US" sz="1000" dirty="0"/>
          </a:p>
        </p:txBody>
      </p:sp>
      <p:sp>
        <p:nvSpPr>
          <p:cNvPr id="12" name="Shape 9"/>
          <p:cNvSpPr/>
          <p:nvPr/>
        </p:nvSpPr>
        <p:spPr>
          <a:xfrm>
            <a:off x="2239194" y="3131046"/>
            <a:ext cx="4722763" cy="778594"/>
          </a:xfrm>
          <a:prstGeom prst="roundRect">
            <a:avLst>
              <a:gd name="adj" fmla="val 5855"/>
            </a:avLst>
          </a:prstGeom>
          <a:solidFill>
            <a:srgbClr val="E9E6FA"/>
          </a:solidFill>
          <a:ln w="4763">
            <a:solidFill>
              <a:srgbClr val="BDB8DF"/>
            </a:solidFill>
            <a:prstDash val="solid"/>
          </a:ln>
        </p:spPr>
      </p:sp>
      <p:sp>
        <p:nvSpPr>
          <p:cNvPr id="13" name="Text 10"/>
          <p:cNvSpPr/>
          <p:nvPr/>
        </p:nvSpPr>
        <p:spPr>
          <a:xfrm>
            <a:off x="2352452" y="3244304"/>
            <a:ext cx="4496246" cy="169515"/>
          </a:xfrm>
          <a:prstGeom prst="rect">
            <a:avLst/>
          </a:prstGeom>
          <a:noFill/>
          <a:ln/>
        </p:spPr>
        <p:txBody>
          <a:bodyPr wrap="none" lIns="0" tIns="0" rIns="0" bIns="0" rtlCol="0" anchor="t"/>
          <a:lstStyle/>
          <a:p>
            <a:pPr marL="0" indent="0" algn="l">
              <a:lnSpc>
                <a:spcPct val="104000"/>
              </a:lnSpc>
              <a:buNone/>
            </a:pPr>
            <a:r>
              <a:rPr lang="en-US" sz="1200" dirty="0">
                <a:solidFill>
                  <a:srgbClr val="2A2742"/>
                </a:solidFill>
                <a:latin typeface="Outfit ExtraBold" pitchFamily="34" charset="0"/>
                <a:ea typeface="Outfit ExtraBold" pitchFamily="34" charset="-122"/>
                <a:cs typeface="Outfit ExtraBold" pitchFamily="34" charset="-120"/>
              </a:rPr>
              <a:t>Emplois qualifiés</a:t>
            </a:r>
            <a:endParaRPr lang="en-US" sz="1200" dirty="0"/>
          </a:p>
        </p:txBody>
      </p:sp>
      <p:sp>
        <p:nvSpPr>
          <p:cNvPr id="14" name="Text 11"/>
          <p:cNvSpPr/>
          <p:nvPr/>
        </p:nvSpPr>
        <p:spPr>
          <a:xfrm>
            <a:off x="2352452" y="3470746"/>
            <a:ext cx="4496246" cy="325636"/>
          </a:xfrm>
          <a:prstGeom prst="rect">
            <a:avLst/>
          </a:prstGeom>
          <a:noFill/>
          <a:ln/>
        </p:spPr>
        <p:txBody>
          <a:bodyPr wrap="square" lIns="0" tIns="0" rIns="0" bIns="0" rtlCol="0" anchor="t">
            <a:noAutofit/>
          </a:bodyPr>
          <a:lstStyle/>
          <a:p>
            <a:pPr marL="0" indent="0" algn="just">
              <a:lnSpc>
                <a:spcPct val="125000"/>
              </a:lnSpc>
              <a:buNone/>
            </a:pPr>
            <a:r>
              <a:rPr lang="en-US" sz="1000" dirty="0">
                <a:solidFill>
                  <a:srgbClr val="2A2742"/>
                </a:solidFill>
                <a:latin typeface="Arimo" pitchFamily="34" charset="0"/>
                <a:ea typeface="Arimo" pitchFamily="34" charset="-122"/>
                <a:cs typeface="Arimo" pitchFamily="34" charset="-120"/>
              </a:rPr>
              <a:t>La demande en data scientists, analystes et experts cybersécurité stimulera le développement des compétences locales et retiendra les talents.</a:t>
            </a:r>
            <a:endParaRPr lang="en-US" sz="1000" dirty="0"/>
          </a:p>
        </p:txBody>
      </p:sp>
      <p:sp>
        <p:nvSpPr>
          <p:cNvPr id="15" name="Shape 12"/>
          <p:cNvSpPr/>
          <p:nvPr/>
        </p:nvSpPr>
        <p:spPr>
          <a:xfrm>
            <a:off x="2239194" y="4004593"/>
            <a:ext cx="4722763" cy="778594"/>
          </a:xfrm>
          <a:prstGeom prst="roundRect">
            <a:avLst>
              <a:gd name="adj" fmla="val 5855"/>
            </a:avLst>
          </a:prstGeom>
          <a:solidFill>
            <a:srgbClr val="E9E6FA"/>
          </a:solidFill>
          <a:ln w="4763">
            <a:solidFill>
              <a:srgbClr val="BDB8DF"/>
            </a:solidFill>
            <a:prstDash val="solid"/>
          </a:ln>
        </p:spPr>
      </p:sp>
      <p:sp>
        <p:nvSpPr>
          <p:cNvPr id="16" name="Text 13"/>
          <p:cNvSpPr/>
          <p:nvPr/>
        </p:nvSpPr>
        <p:spPr>
          <a:xfrm>
            <a:off x="2352452" y="4117851"/>
            <a:ext cx="4496246" cy="169515"/>
          </a:xfrm>
          <a:prstGeom prst="rect">
            <a:avLst/>
          </a:prstGeom>
          <a:noFill/>
          <a:ln/>
        </p:spPr>
        <p:txBody>
          <a:bodyPr wrap="none" lIns="0" tIns="0" rIns="0" bIns="0" rtlCol="0" anchor="t"/>
          <a:lstStyle/>
          <a:p>
            <a:pPr marL="0" indent="0" algn="l">
              <a:lnSpc>
                <a:spcPct val="104000"/>
              </a:lnSpc>
              <a:buNone/>
            </a:pPr>
            <a:r>
              <a:rPr lang="en-US" sz="1200" dirty="0">
                <a:solidFill>
                  <a:srgbClr val="2A2742"/>
                </a:solidFill>
                <a:latin typeface="Outfit ExtraBold" pitchFamily="34" charset="0"/>
                <a:ea typeface="Outfit ExtraBold" pitchFamily="34" charset="-122"/>
                <a:cs typeface="Outfit ExtraBold" pitchFamily="34" charset="-120"/>
              </a:rPr>
              <a:t>Rayonnement régional</a:t>
            </a:r>
            <a:endParaRPr lang="en-US" sz="1200" dirty="0"/>
          </a:p>
        </p:txBody>
      </p:sp>
      <p:sp>
        <p:nvSpPr>
          <p:cNvPr id="17" name="Text 14"/>
          <p:cNvSpPr/>
          <p:nvPr/>
        </p:nvSpPr>
        <p:spPr>
          <a:xfrm>
            <a:off x="2352452" y="4344293"/>
            <a:ext cx="4496246" cy="325636"/>
          </a:xfrm>
          <a:prstGeom prst="rect">
            <a:avLst/>
          </a:prstGeom>
          <a:noFill/>
          <a:ln/>
        </p:spPr>
        <p:txBody>
          <a:bodyPr wrap="square" lIns="0" tIns="0" rIns="0" bIns="0" rtlCol="0" anchor="t">
            <a:noAutofit/>
          </a:bodyPr>
          <a:lstStyle/>
          <a:p>
            <a:pPr marL="0" indent="0" algn="just">
              <a:lnSpc>
                <a:spcPct val="125000"/>
              </a:lnSpc>
              <a:buNone/>
            </a:pPr>
            <a:r>
              <a:rPr lang="en-US" sz="1000" dirty="0">
                <a:solidFill>
                  <a:srgbClr val="2A2742"/>
                </a:solidFill>
                <a:latin typeface="Arimo" pitchFamily="34" charset="0"/>
                <a:ea typeface="Arimo" pitchFamily="34" charset="-122"/>
                <a:cs typeface="Arimo" pitchFamily="34" charset="-120"/>
              </a:rPr>
              <a:t>La solution pourra être répliquée dans d'autres pays de la région CARICOM, renforçant le rayonnement international d'Haïti.</a:t>
            </a:r>
            <a:endParaRPr lang="en-US" sz="1000" dirty="0"/>
          </a:p>
        </p:txBody>
      </p:sp>
    </p:spTree>
    <p:extLst>
      <p:ext uri="{BB962C8B-B14F-4D97-AF65-F5344CB8AC3E}">
        <p14:creationId xmlns:p14="http://schemas.microsoft.com/office/powerpoint/2010/main" val="3388012455"/>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nvSpPr>
        <p:spPr>
          <a:xfrm>
            <a:off x="496119" y="401092"/>
            <a:ext cx="4722763" cy="352946"/>
          </a:xfrm>
          <a:prstGeom prst="rect">
            <a:avLst/>
          </a:prstGeom>
          <a:noFill/>
          <a:ln/>
        </p:spPr>
        <p:txBody>
          <a:bodyPr wrap="none" lIns="0" tIns="0" rIns="0" bIns="0" rtlCol="0" anchor="t"/>
          <a:lstStyle/>
          <a:p>
            <a:pPr marL="0" indent="0" algn="l">
              <a:lnSpc>
                <a:spcPct val="104000"/>
              </a:lnSpc>
              <a:buNone/>
            </a:pPr>
            <a:r>
              <a:rPr lang="en-US" sz="2200" dirty="0" smtClean="0">
                <a:solidFill>
                  <a:srgbClr val="231971"/>
                </a:solidFill>
                <a:latin typeface="Outfit ExtraBold" pitchFamily="34" charset="0"/>
                <a:ea typeface="Outfit ExtraBold" pitchFamily="34" charset="-122"/>
                <a:cs typeface="Outfit ExtraBold" pitchFamily="34" charset="-120"/>
              </a:rPr>
              <a:t>FONCTIONNALITÉS ET IMPACTS</a:t>
            </a:r>
            <a:endParaRPr lang="en-US" sz="2200" dirty="0"/>
          </a:p>
        </p:txBody>
      </p:sp>
      <p:sp>
        <p:nvSpPr>
          <p:cNvPr id="5" name="Text 1"/>
          <p:cNvSpPr/>
          <p:nvPr/>
        </p:nvSpPr>
        <p:spPr>
          <a:xfrm>
            <a:off x="496119" y="1283940"/>
            <a:ext cx="4722763" cy="176510"/>
          </a:xfrm>
          <a:prstGeom prst="rect">
            <a:avLst/>
          </a:prstGeom>
          <a:noFill/>
          <a:ln/>
        </p:spPr>
        <p:txBody>
          <a:bodyPr wrap="none" lIns="0" tIns="0" rIns="0" bIns="0" rtlCol="0" anchor="t"/>
          <a:lstStyle/>
          <a:p>
            <a:pPr marL="0" indent="0" algn="l">
              <a:lnSpc>
                <a:spcPct val="104000"/>
              </a:lnSpc>
              <a:buNone/>
            </a:pPr>
            <a:r>
              <a:rPr lang="en-US" sz="1200" dirty="0">
                <a:solidFill>
                  <a:srgbClr val="2A2742"/>
                </a:solidFill>
                <a:latin typeface="Outfit ExtraBold" pitchFamily="34" charset="0"/>
                <a:ea typeface="Outfit ExtraBold" pitchFamily="34" charset="-122"/>
                <a:cs typeface="Outfit ExtraBold" pitchFamily="34" charset="-120"/>
              </a:rPr>
              <a:t>Scoring temps réel</a:t>
            </a:r>
            <a:endParaRPr lang="en-US" sz="1200" dirty="0"/>
          </a:p>
        </p:txBody>
      </p:sp>
      <p:sp>
        <p:nvSpPr>
          <p:cNvPr id="6" name="Text 2"/>
          <p:cNvSpPr/>
          <p:nvPr/>
        </p:nvSpPr>
        <p:spPr>
          <a:xfrm>
            <a:off x="496119" y="1514401"/>
            <a:ext cx="4722763" cy="162371"/>
          </a:xfrm>
          <a:prstGeom prst="rect">
            <a:avLst/>
          </a:prstGeom>
          <a:noFill/>
          <a:ln/>
        </p:spPr>
        <p:txBody>
          <a:bodyPr wrap="none" lIns="0" tIns="0" rIns="0" bIns="0" rtlCol="0" anchor="t"/>
          <a:lstStyle/>
          <a:p>
            <a:pPr marL="0" indent="0" algn="l">
              <a:lnSpc>
                <a:spcPct val="120000"/>
              </a:lnSpc>
              <a:buNone/>
            </a:pPr>
            <a:r>
              <a:rPr lang="en-US" sz="1100" dirty="0">
                <a:solidFill>
                  <a:srgbClr val="2A2742"/>
                </a:solidFill>
                <a:latin typeface="Arimo" pitchFamily="34" charset="0"/>
                <a:ea typeface="Arimo" pitchFamily="34" charset="-122"/>
                <a:cs typeface="Arimo" pitchFamily="34" charset="-120"/>
              </a:rPr>
              <a:t>Scoring automatisé en temps </a:t>
            </a:r>
            <a:r>
              <a:rPr lang="en-US" sz="1100" dirty="0" err="1">
                <a:solidFill>
                  <a:srgbClr val="2A2742"/>
                </a:solidFill>
                <a:latin typeface="Arimo" pitchFamily="34" charset="0"/>
                <a:ea typeface="Arimo" pitchFamily="34" charset="-122"/>
                <a:cs typeface="Arimo" pitchFamily="34" charset="-120"/>
              </a:rPr>
              <a:t>réel</a:t>
            </a:r>
            <a:r>
              <a:rPr lang="en-US" sz="1100" dirty="0">
                <a:solidFill>
                  <a:srgbClr val="2A2742"/>
                </a:solidFill>
                <a:latin typeface="Arimo" pitchFamily="34" charset="0"/>
                <a:ea typeface="Arimo" pitchFamily="34" charset="-122"/>
                <a:cs typeface="Arimo" pitchFamily="34" charset="-120"/>
              </a:rPr>
              <a:t> </a:t>
            </a:r>
            <a:r>
              <a:rPr lang="en-US" sz="1100" dirty="0" smtClean="0">
                <a:solidFill>
                  <a:srgbClr val="2A2742"/>
                </a:solidFill>
                <a:latin typeface="Arimo" pitchFamily="34" charset="0"/>
                <a:ea typeface="Arimo" pitchFamily="34" charset="-122"/>
                <a:cs typeface="Arimo" pitchFamily="34" charset="-120"/>
              </a:rPr>
              <a:t> </a:t>
            </a:r>
            <a:r>
              <a:rPr lang="en-US" sz="1100" dirty="0">
                <a:solidFill>
                  <a:srgbClr val="2A2742"/>
                </a:solidFill>
                <a:latin typeface="Arimo" pitchFamily="34" charset="0"/>
                <a:ea typeface="Arimo" pitchFamily="34" charset="-122"/>
                <a:cs typeface="Arimo" pitchFamily="34" charset="-120"/>
              </a:rPr>
              <a:t>: Faible / Moyen / </a:t>
            </a:r>
            <a:r>
              <a:rPr lang="fr-FR" sz="1100" dirty="0" smtClean="0">
                <a:solidFill>
                  <a:srgbClr val="2A2742"/>
                </a:solidFill>
                <a:latin typeface="Arimo" pitchFamily="34" charset="0"/>
                <a:ea typeface="Arimo" pitchFamily="34" charset="-122"/>
                <a:cs typeface="Arimo" pitchFamily="34" charset="-120"/>
              </a:rPr>
              <a:t>Elevé</a:t>
            </a:r>
            <a:r>
              <a:rPr lang="en-US" sz="1100" dirty="0" smtClean="0">
                <a:solidFill>
                  <a:srgbClr val="2A2742"/>
                </a:solidFill>
                <a:latin typeface="Arimo" pitchFamily="34" charset="0"/>
                <a:ea typeface="Arimo" pitchFamily="34" charset="-122"/>
                <a:cs typeface="Arimo" pitchFamily="34" charset="-120"/>
              </a:rPr>
              <a:t>.</a:t>
            </a:r>
            <a:endParaRPr lang="en-US" sz="1100" dirty="0"/>
          </a:p>
        </p:txBody>
      </p:sp>
      <p:sp>
        <p:nvSpPr>
          <p:cNvPr id="8" name="Text 3"/>
          <p:cNvSpPr/>
          <p:nvPr/>
        </p:nvSpPr>
        <p:spPr>
          <a:xfrm>
            <a:off x="496119" y="2251695"/>
            <a:ext cx="4722763" cy="176510"/>
          </a:xfrm>
          <a:prstGeom prst="rect">
            <a:avLst/>
          </a:prstGeom>
          <a:noFill/>
          <a:ln/>
        </p:spPr>
        <p:txBody>
          <a:bodyPr wrap="none" lIns="0" tIns="0" rIns="0" bIns="0" rtlCol="0" anchor="t"/>
          <a:lstStyle/>
          <a:p>
            <a:pPr marL="0" indent="0" algn="l">
              <a:lnSpc>
                <a:spcPct val="104000"/>
              </a:lnSpc>
              <a:buNone/>
            </a:pPr>
            <a:r>
              <a:rPr lang="en-US" sz="1200" dirty="0">
                <a:solidFill>
                  <a:srgbClr val="2A2742"/>
                </a:solidFill>
                <a:latin typeface="Outfit ExtraBold" pitchFamily="34" charset="0"/>
                <a:ea typeface="Outfit ExtraBold" pitchFamily="34" charset="-122"/>
                <a:cs typeface="Outfit ExtraBold" pitchFamily="34" charset="-120"/>
              </a:rPr>
              <a:t>Tableau de bord Power BI</a:t>
            </a:r>
            <a:endParaRPr lang="en-US" sz="1200" dirty="0"/>
          </a:p>
        </p:txBody>
      </p:sp>
      <p:sp>
        <p:nvSpPr>
          <p:cNvPr id="9" name="Text 4"/>
          <p:cNvSpPr/>
          <p:nvPr/>
        </p:nvSpPr>
        <p:spPr>
          <a:xfrm>
            <a:off x="496119" y="2482155"/>
            <a:ext cx="4722763" cy="162371"/>
          </a:xfrm>
          <a:prstGeom prst="rect">
            <a:avLst/>
          </a:prstGeom>
          <a:noFill/>
          <a:ln/>
        </p:spPr>
        <p:txBody>
          <a:bodyPr wrap="none" lIns="0" tIns="0" rIns="0" bIns="0" rtlCol="0" anchor="t"/>
          <a:lstStyle/>
          <a:p>
            <a:pPr marL="0" indent="0" algn="l">
              <a:lnSpc>
                <a:spcPct val="120000"/>
              </a:lnSpc>
              <a:buNone/>
            </a:pPr>
            <a:r>
              <a:rPr lang="en-US" sz="1100" dirty="0">
                <a:solidFill>
                  <a:srgbClr val="2A2742"/>
                </a:solidFill>
                <a:latin typeface="Arimo" pitchFamily="34" charset="0"/>
                <a:ea typeface="Arimo" pitchFamily="34" charset="-122"/>
                <a:cs typeface="Arimo" pitchFamily="34" charset="-120"/>
              </a:rPr>
              <a:t>Volume transactionnel, taux d'anomalie par </a:t>
            </a:r>
            <a:r>
              <a:rPr lang="en-US" sz="1100" dirty="0" smtClean="0">
                <a:solidFill>
                  <a:srgbClr val="2A2742"/>
                </a:solidFill>
                <a:latin typeface="Arimo" pitchFamily="34" charset="0"/>
                <a:ea typeface="Arimo" pitchFamily="34" charset="-122"/>
                <a:cs typeface="Arimo" pitchFamily="34" charset="-120"/>
              </a:rPr>
              <a:t>canal.</a:t>
            </a:r>
            <a:endParaRPr lang="en-US" sz="1100" dirty="0"/>
          </a:p>
        </p:txBody>
      </p:sp>
      <p:sp>
        <p:nvSpPr>
          <p:cNvPr id="14" name="Text 7"/>
          <p:cNvSpPr/>
          <p:nvPr/>
        </p:nvSpPr>
        <p:spPr>
          <a:xfrm>
            <a:off x="496119" y="3196639"/>
            <a:ext cx="4722763" cy="176510"/>
          </a:xfrm>
          <a:prstGeom prst="rect">
            <a:avLst/>
          </a:prstGeom>
          <a:noFill/>
          <a:ln/>
        </p:spPr>
        <p:txBody>
          <a:bodyPr wrap="none" lIns="0" tIns="0" rIns="0" bIns="0" rtlCol="0" anchor="t"/>
          <a:lstStyle/>
          <a:p>
            <a:pPr marL="0" indent="0" algn="l">
              <a:lnSpc>
                <a:spcPct val="104000"/>
              </a:lnSpc>
              <a:buNone/>
            </a:pPr>
            <a:r>
              <a:rPr lang="en-US" sz="1200" dirty="0">
                <a:solidFill>
                  <a:srgbClr val="2A2742"/>
                </a:solidFill>
                <a:latin typeface="Outfit ExtraBold" pitchFamily="34" charset="0"/>
                <a:ea typeface="Outfit ExtraBold" pitchFamily="34" charset="-122"/>
                <a:cs typeface="Outfit ExtraBold" pitchFamily="34" charset="-120"/>
              </a:rPr>
              <a:t>Réduction des pertes</a:t>
            </a:r>
            <a:endParaRPr lang="en-US" sz="1200" dirty="0"/>
          </a:p>
        </p:txBody>
      </p:sp>
      <p:sp>
        <p:nvSpPr>
          <p:cNvPr id="15" name="Text 8"/>
          <p:cNvSpPr/>
          <p:nvPr/>
        </p:nvSpPr>
        <p:spPr>
          <a:xfrm>
            <a:off x="496119" y="3427100"/>
            <a:ext cx="4722763" cy="162371"/>
          </a:xfrm>
          <a:prstGeom prst="rect">
            <a:avLst/>
          </a:prstGeom>
          <a:noFill/>
          <a:ln/>
        </p:spPr>
        <p:txBody>
          <a:bodyPr wrap="none" lIns="0" tIns="0" rIns="0" bIns="0" rtlCol="0" anchor="t"/>
          <a:lstStyle/>
          <a:p>
            <a:pPr marL="0" indent="0" algn="l">
              <a:lnSpc>
                <a:spcPct val="120000"/>
              </a:lnSpc>
              <a:buNone/>
            </a:pPr>
            <a:r>
              <a:rPr lang="en-US" sz="1000" dirty="0">
                <a:solidFill>
                  <a:srgbClr val="2A2742"/>
                </a:solidFill>
                <a:latin typeface="Arimo" pitchFamily="34" charset="0"/>
                <a:ea typeface="Arimo" pitchFamily="34" charset="-122"/>
                <a:cs typeface="Arimo" pitchFamily="34" charset="-120"/>
              </a:rPr>
              <a:t>Détection précoce, allègement de la charge d'audit, conformité renforcée aux directives BRH.</a:t>
            </a:r>
            <a:endParaRPr lang="en-US" sz="1000" dirty="0"/>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496119" y="575072"/>
            <a:ext cx="8151763" cy="357336"/>
          </a:xfrm>
          <a:prstGeom prst="rect">
            <a:avLst/>
          </a:prstGeom>
          <a:noFill/>
          <a:ln/>
        </p:spPr>
        <p:txBody>
          <a:bodyPr wrap="none" lIns="0" tIns="0" rIns="0" bIns="0" rtlCol="0" anchor="t"/>
          <a:lstStyle/>
          <a:p>
            <a:pPr>
              <a:lnSpc>
                <a:spcPct val="104000"/>
              </a:lnSpc>
            </a:pPr>
            <a:r>
              <a:rPr lang="en-US" sz="2250" dirty="0">
                <a:solidFill>
                  <a:srgbClr val="231971"/>
                </a:solidFill>
                <a:latin typeface="Outfit ExtraBold" pitchFamily="34" charset="0"/>
                <a:ea typeface="Outfit ExtraBold" pitchFamily="34" charset="-122"/>
                <a:cs typeface="Outfit ExtraBold" pitchFamily="34" charset="-120"/>
              </a:rPr>
              <a:t>LIMITES </a:t>
            </a:r>
            <a:r>
              <a:rPr lang="en-US" sz="2250" dirty="0" smtClean="0">
                <a:solidFill>
                  <a:srgbClr val="231971"/>
                </a:solidFill>
                <a:latin typeface="Outfit ExtraBold" pitchFamily="34" charset="0"/>
                <a:ea typeface="Outfit ExtraBold" pitchFamily="34" charset="-122"/>
                <a:cs typeface="Outfit ExtraBold" pitchFamily="34" charset="-120"/>
              </a:rPr>
              <a:t>ET </a:t>
            </a:r>
            <a:r>
              <a:rPr lang="en-US" sz="2250" dirty="0">
                <a:solidFill>
                  <a:srgbClr val="231971"/>
                </a:solidFill>
                <a:latin typeface="Outfit ExtraBold" pitchFamily="34" charset="0"/>
                <a:ea typeface="Outfit ExtraBold" pitchFamily="34" charset="-122"/>
                <a:cs typeface="Outfit ExtraBold" pitchFamily="34" charset="-120"/>
              </a:rPr>
              <a:t>ATTÉNUATION</a:t>
            </a:r>
          </a:p>
        </p:txBody>
      </p:sp>
      <p:sp>
        <p:nvSpPr>
          <p:cNvPr id="5" name="Text 3"/>
          <p:cNvSpPr/>
          <p:nvPr/>
        </p:nvSpPr>
        <p:spPr>
          <a:xfrm>
            <a:off x="496119" y="1195908"/>
            <a:ext cx="3936429" cy="178668"/>
          </a:xfrm>
          <a:prstGeom prst="rect">
            <a:avLst/>
          </a:prstGeom>
          <a:noFill/>
          <a:ln/>
        </p:spPr>
        <p:txBody>
          <a:bodyPr wrap="none" lIns="0" tIns="0" rIns="0" bIns="0" rtlCol="0" anchor="t"/>
          <a:lstStyle/>
          <a:p>
            <a:pPr marL="0" indent="0" algn="l">
              <a:lnSpc>
                <a:spcPct val="104000"/>
              </a:lnSpc>
              <a:buNone/>
            </a:pPr>
            <a:r>
              <a:rPr lang="en-US" sz="1200" dirty="0">
                <a:solidFill>
                  <a:srgbClr val="231971"/>
                </a:solidFill>
                <a:latin typeface="Outfit ExtraBold" pitchFamily="34" charset="0"/>
                <a:ea typeface="Outfit ExtraBold" pitchFamily="34" charset="-122"/>
                <a:cs typeface="Outfit ExtraBold" pitchFamily="34" charset="-120"/>
              </a:rPr>
              <a:t>Limites liées aux données</a:t>
            </a:r>
            <a:endParaRPr lang="en-US" sz="1200" dirty="0"/>
          </a:p>
        </p:txBody>
      </p:sp>
      <p:sp>
        <p:nvSpPr>
          <p:cNvPr id="6" name="Text 4"/>
          <p:cNvSpPr/>
          <p:nvPr/>
        </p:nvSpPr>
        <p:spPr>
          <a:xfrm>
            <a:off x="496119" y="1479947"/>
            <a:ext cx="3936429" cy="1128713"/>
          </a:xfrm>
          <a:prstGeom prst="rect">
            <a:avLst/>
          </a:prstGeom>
          <a:noFill/>
          <a:ln/>
        </p:spPr>
        <p:txBody>
          <a:bodyPr wrap="square" lIns="0" tIns="0" rIns="0" bIns="0" rtlCol="0" anchor="t">
            <a:noAutofit/>
          </a:bodyPr>
          <a:lstStyle/>
          <a:p>
            <a:pPr marL="182880" indent="-182880" algn="just">
              <a:lnSpc>
                <a:spcPct val="128000"/>
              </a:lnSpc>
              <a:buSzPct val="100000"/>
              <a:buChar char="•"/>
            </a:pPr>
            <a:r>
              <a:rPr lang="en-US" sz="1000" b="1" dirty="0">
                <a:solidFill>
                  <a:srgbClr val="2A2742"/>
                </a:solidFill>
                <a:latin typeface="Arimo Bold" pitchFamily="34" charset="0"/>
                <a:ea typeface="Arimo Bold" pitchFamily="34" charset="-122"/>
                <a:cs typeface="Arimo Bold" pitchFamily="34" charset="-120"/>
              </a:rPr>
              <a:t>Absence de données haïtiennes</a:t>
            </a:r>
            <a:r>
              <a:rPr lang="en-US" sz="1000" dirty="0">
                <a:solidFill>
                  <a:srgbClr val="2A2742"/>
                </a:solidFill>
                <a:latin typeface="Arimo" pitchFamily="34" charset="0"/>
                <a:ea typeface="Arimo" pitchFamily="34" charset="-122"/>
                <a:cs typeface="Arimo" pitchFamily="34" charset="-120"/>
              </a:rPr>
              <a:t> : le modèle proxy indien peut ne pas détecter les anomalies spécifiques au contexte local</a:t>
            </a:r>
            <a:endParaRPr lang="en-US" sz="1000" dirty="0"/>
          </a:p>
          <a:p>
            <a:pPr marL="182880" indent="-182880" algn="just">
              <a:lnSpc>
                <a:spcPct val="128000"/>
              </a:lnSpc>
              <a:buSzPct val="100000"/>
              <a:buChar char="•"/>
            </a:pPr>
            <a:r>
              <a:rPr lang="en-US" sz="1000" b="1" dirty="0">
                <a:solidFill>
                  <a:srgbClr val="2A2742"/>
                </a:solidFill>
                <a:latin typeface="Arimo Bold" pitchFamily="34" charset="0"/>
                <a:ea typeface="Arimo Bold" pitchFamily="34" charset="-122"/>
                <a:cs typeface="Arimo Bold" pitchFamily="34" charset="-120"/>
              </a:rPr>
              <a:t>Devise différente</a:t>
            </a:r>
            <a:r>
              <a:rPr lang="en-US" sz="1000" dirty="0">
                <a:solidFill>
                  <a:srgbClr val="2A2742"/>
                </a:solidFill>
                <a:latin typeface="Arimo" pitchFamily="34" charset="0"/>
                <a:ea typeface="Arimo" pitchFamily="34" charset="-122"/>
                <a:cs typeface="Arimo" pitchFamily="34" charset="-120"/>
              </a:rPr>
              <a:t> : données en INR, pas en HTG </a:t>
            </a:r>
            <a:r>
              <a:rPr lang="en-US" sz="1000" dirty="0" smtClean="0">
                <a:solidFill>
                  <a:srgbClr val="2A2742"/>
                </a:solidFill>
                <a:latin typeface="Arimo" pitchFamily="34" charset="0"/>
                <a:ea typeface="Arimo" pitchFamily="34" charset="-122"/>
                <a:cs typeface="Arimo" pitchFamily="34" charset="-120"/>
              </a:rPr>
              <a:t>- </a:t>
            </a:r>
            <a:r>
              <a:rPr lang="en-US" sz="1000" dirty="0">
                <a:solidFill>
                  <a:srgbClr val="2A2742"/>
                </a:solidFill>
                <a:latin typeface="Arimo" pitchFamily="34" charset="0"/>
                <a:ea typeface="Arimo" pitchFamily="34" charset="-122"/>
                <a:cs typeface="Arimo" pitchFamily="34" charset="-120"/>
              </a:rPr>
              <a:t>les seuils doivent être ajustés</a:t>
            </a:r>
            <a:endParaRPr lang="en-US" sz="1000" dirty="0"/>
          </a:p>
          <a:p>
            <a:pPr marL="182880" indent="-182880" algn="just">
              <a:lnSpc>
                <a:spcPct val="128000"/>
              </a:lnSpc>
              <a:buSzPct val="100000"/>
              <a:buChar char="•"/>
            </a:pPr>
            <a:r>
              <a:rPr lang="en-US" sz="1000" b="1" dirty="0">
                <a:solidFill>
                  <a:srgbClr val="2A2742"/>
                </a:solidFill>
                <a:latin typeface="Arimo Bold" pitchFamily="34" charset="0"/>
                <a:ea typeface="Arimo Bold" pitchFamily="34" charset="-122"/>
                <a:cs typeface="Arimo Bold" pitchFamily="34" charset="-120"/>
              </a:rPr>
              <a:t>Données synthétiques</a:t>
            </a:r>
            <a:r>
              <a:rPr lang="en-US" sz="1000" dirty="0">
                <a:solidFill>
                  <a:srgbClr val="2A2742"/>
                </a:solidFill>
                <a:latin typeface="Arimo" pitchFamily="34" charset="0"/>
                <a:ea typeface="Arimo" pitchFamily="34" charset="-122"/>
                <a:cs typeface="Arimo" pitchFamily="34" charset="-120"/>
              </a:rPr>
              <a:t> : absence de cycles humains naturels (activité constante sur 24h)</a:t>
            </a:r>
            <a:endParaRPr lang="en-US" sz="1000" dirty="0"/>
          </a:p>
        </p:txBody>
      </p:sp>
      <p:sp>
        <p:nvSpPr>
          <p:cNvPr id="7" name="Text 5"/>
          <p:cNvSpPr/>
          <p:nvPr/>
        </p:nvSpPr>
        <p:spPr>
          <a:xfrm>
            <a:off x="4716214" y="1195908"/>
            <a:ext cx="3936429" cy="178668"/>
          </a:xfrm>
          <a:prstGeom prst="rect">
            <a:avLst/>
          </a:prstGeom>
          <a:noFill/>
          <a:ln/>
        </p:spPr>
        <p:txBody>
          <a:bodyPr wrap="none" lIns="0" tIns="0" rIns="0" bIns="0" rtlCol="0" anchor="t"/>
          <a:lstStyle/>
          <a:p>
            <a:pPr marL="0" indent="0" algn="l">
              <a:lnSpc>
                <a:spcPct val="104000"/>
              </a:lnSpc>
              <a:buNone/>
            </a:pPr>
            <a:r>
              <a:rPr lang="en-US" sz="1200" dirty="0">
                <a:solidFill>
                  <a:srgbClr val="231971"/>
                </a:solidFill>
                <a:latin typeface="Outfit ExtraBold" pitchFamily="34" charset="0"/>
                <a:ea typeface="Outfit ExtraBold" pitchFamily="34" charset="-122"/>
                <a:cs typeface="Outfit ExtraBold" pitchFamily="34" charset="-120"/>
              </a:rPr>
              <a:t>Limites méthodologiques</a:t>
            </a:r>
            <a:endParaRPr lang="en-US" sz="1200" dirty="0"/>
          </a:p>
        </p:txBody>
      </p:sp>
      <p:sp>
        <p:nvSpPr>
          <p:cNvPr id="8" name="Text 6"/>
          <p:cNvSpPr/>
          <p:nvPr/>
        </p:nvSpPr>
        <p:spPr>
          <a:xfrm>
            <a:off x="4716214" y="1479947"/>
            <a:ext cx="3936429" cy="1252240"/>
          </a:xfrm>
          <a:prstGeom prst="rect">
            <a:avLst/>
          </a:prstGeom>
          <a:noFill/>
          <a:ln/>
        </p:spPr>
        <p:txBody>
          <a:bodyPr wrap="square" lIns="0" tIns="0" rIns="0" bIns="0" rtlCol="0" anchor="t">
            <a:noAutofit/>
          </a:bodyPr>
          <a:lstStyle/>
          <a:p>
            <a:pPr marL="182880" indent="-182880" algn="just">
              <a:lnSpc>
                <a:spcPct val="128000"/>
              </a:lnSpc>
              <a:buSzPct val="100000"/>
              <a:buChar char="•"/>
            </a:pPr>
            <a:r>
              <a:rPr lang="en-US" sz="1000" b="1" dirty="0">
                <a:solidFill>
                  <a:srgbClr val="2A2742"/>
                </a:solidFill>
                <a:latin typeface="Arimo Bold" pitchFamily="34" charset="0"/>
                <a:ea typeface="Arimo Bold" pitchFamily="34" charset="-122"/>
                <a:cs typeface="Arimo Bold" pitchFamily="34" charset="-120"/>
              </a:rPr>
              <a:t>Toute anomalie n'est pas une fraude</a:t>
            </a:r>
            <a:r>
              <a:rPr lang="en-US" sz="1000" dirty="0">
                <a:solidFill>
                  <a:srgbClr val="2A2742"/>
                </a:solidFill>
                <a:latin typeface="Arimo" pitchFamily="34" charset="0"/>
                <a:ea typeface="Arimo" pitchFamily="34" charset="-122"/>
                <a:cs typeface="Arimo" pitchFamily="34" charset="-120"/>
              </a:rPr>
              <a:t> : nécessité de validation humaine systématique</a:t>
            </a:r>
            <a:endParaRPr lang="en-US" sz="1000" dirty="0"/>
          </a:p>
          <a:p>
            <a:pPr marL="182880" indent="-182880" algn="just">
              <a:lnSpc>
                <a:spcPct val="128000"/>
              </a:lnSpc>
              <a:buSzPct val="100000"/>
              <a:buChar char="•"/>
            </a:pPr>
            <a:r>
              <a:rPr lang="en-US" sz="1000" b="1" dirty="0">
                <a:solidFill>
                  <a:srgbClr val="2A2742"/>
                </a:solidFill>
                <a:latin typeface="Arimo Bold" pitchFamily="34" charset="0"/>
                <a:ea typeface="Arimo Bold" pitchFamily="34" charset="-122"/>
                <a:cs typeface="Arimo Bold" pitchFamily="34" charset="-120"/>
              </a:rPr>
              <a:t>Évolution du modèle</a:t>
            </a:r>
            <a:r>
              <a:rPr lang="en-US" sz="1000" dirty="0">
                <a:solidFill>
                  <a:srgbClr val="2A2742"/>
                </a:solidFill>
                <a:latin typeface="Arimo" pitchFamily="34" charset="0"/>
                <a:ea typeface="Arimo" pitchFamily="34" charset="-122"/>
                <a:cs typeface="Arimo" pitchFamily="34" charset="-120"/>
              </a:rPr>
              <a:t> : sans ré-entraînement, le modèle devient obsolète</a:t>
            </a:r>
            <a:endParaRPr lang="en-US" sz="1000" dirty="0"/>
          </a:p>
          <a:p>
            <a:pPr marL="182880" indent="-182880" algn="just">
              <a:lnSpc>
                <a:spcPct val="128000"/>
              </a:lnSpc>
              <a:buSzPct val="100000"/>
              <a:buChar char="•"/>
            </a:pPr>
            <a:r>
              <a:rPr lang="en-US" sz="1000" b="1" dirty="0">
                <a:solidFill>
                  <a:srgbClr val="2A2742"/>
                </a:solidFill>
                <a:latin typeface="Arimo Bold" pitchFamily="34" charset="0"/>
                <a:ea typeface="Arimo Bold" pitchFamily="34" charset="-122"/>
                <a:cs typeface="Arimo Bold" pitchFamily="34" charset="-120"/>
              </a:rPr>
              <a:t>Surveillance continue</a:t>
            </a:r>
            <a:r>
              <a:rPr lang="en-US" sz="1000" dirty="0">
                <a:solidFill>
                  <a:srgbClr val="2A2742"/>
                </a:solidFill>
                <a:latin typeface="Arimo" pitchFamily="34" charset="0"/>
                <a:ea typeface="Arimo" pitchFamily="34" charset="-122"/>
                <a:cs typeface="Arimo" pitchFamily="34" charset="-120"/>
              </a:rPr>
              <a:t> : la détection peut avoir un retard sans système temps réel</a:t>
            </a:r>
            <a:endParaRPr lang="en-US" sz="1000" dirty="0"/>
          </a:p>
        </p:txBody>
      </p:sp>
      <p:sp>
        <p:nvSpPr>
          <p:cNvPr id="9" name="Text 7"/>
          <p:cNvSpPr/>
          <p:nvPr/>
        </p:nvSpPr>
        <p:spPr>
          <a:xfrm>
            <a:off x="496119" y="2803624"/>
            <a:ext cx="8151763" cy="178668"/>
          </a:xfrm>
          <a:prstGeom prst="rect">
            <a:avLst/>
          </a:prstGeom>
          <a:noFill/>
          <a:ln/>
        </p:spPr>
        <p:txBody>
          <a:bodyPr wrap="none" lIns="0" tIns="0" rIns="0" bIns="0" rtlCol="0" anchor="t"/>
          <a:lstStyle/>
          <a:p>
            <a:pPr marL="0" indent="0" algn="l">
              <a:lnSpc>
                <a:spcPct val="104000"/>
              </a:lnSpc>
              <a:buNone/>
            </a:pPr>
            <a:r>
              <a:rPr lang="en-US" sz="1200" dirty="0">
                <a:solidFill>
                  <a:srgbClr val="231971"/>
                </a:solidFill>
                <a:latin typeface="Outfit ExtraBold" pitchFamily="34" charset="0"/>
                <a:ea typeface="Outfit ExtraBold" pitchFamily="34" charset="-122"/>
                <a:cs typeface="Outfit ExtraBold" pitchFamily="34" charset="-120"/>
              </a:rPr>
              <a:t>Stratégies d'atténuation</a:t>
            </a:r>
            <a:endParaRPr lang="en-US" sz="1200" dirty="0"/>
          </a:p>
        </p:txBody>
      </p:sp>
      <p:sp>
        <p:nvSpPr>
          <p:cNvPr id="10" name="Text 8"/>
          <p:cNvSpPr/>
          <p:nvPr/>
        </p:nvSpPr>
        <p:spPr>
          <a:xfrm>
            <a:off x="496119" y="3140422"/>
            <a:ext cx="228674" cy="142875"/>
          </a:xfrm>
          <a:prstGeom prst="rect">
            <a:avLst/>
          </a:prstGeom>
          <a:noFill/>
          <a:ln/>
        </p:spPr>
        <p:txBody>
          <a:bodyPr wrap="none" lIns="0" tIns="0" rIns="0" bIns="0" rtlCol="0" anchor="ctr"/>
          <a:lstStyle/>
          <a:p>
            <a:pPr marL="0" indent="0" algn="l">
              <a:lnSpc>
                <a:spcPct val="100000"/>
              </a:lnSpc>
              <a:buNone/>
            </a:pPr>
            <a:r>
              <a:rPr lang="en-US" sz="900" dirty="0">
                <a:solidFill>
                  <a:srgbClr val="2A2742"/>
                </a:solidFill>
                <a:latin typeface="Outfit Light" pitchFamily="34" charset="0"/>
                <a:ea typeface="Outfit Light" pitchFamily="34" charset="-122"/>
                <a:cs typeface="Outfit Light" pitchFamily="34" charset="-120"/>
              </a:rPr>
              <a:t>01</a:t>
            </a:r>
            <a:endParaRPr lang="en-US" sz="900" dirty="0"/>
          </a:p>
        </p:txBody>
      </p:sp>
      <p:sp>
        <p:nvSpPr>
          <p:cNvPr id="11" name="Shape 9"/>
          <p:cNvSpPr/>
          <p:nvPr/>
        </p:nvSpPr>
        <p:spPr>
          <a:xfrm>
            <a:off x="496119" y="3320430"/>
            <a:ext cx="4023196" cy="14288"/>
          </a:xfrm>
          <a:prstGeom prst="rect">
            <a:avLst/>
          </a:prstGeom>
          <a:solidFill>
            <a:srgbClr val="5E4CE6"/>
          </a:solidFill>
          <a:ln/>
        </p:spPr>
      </p:sp>
      <p:sp>
        <p:nvSpPr>
          <p:cNvPr id="12" name="Text 10"/>
          <p:cNvSpPr/>
          <p:nvPr/>
        </p:nvSpPr>
        <p:spPr>
          <a:xfrm>
            <a:off x="496119" y="3406155"/>
            <a:ext cx="4023196" cy="178668"/>
          </a:xfrm>
          <a:prstGeom prst="rect">
            <a:avLst/>
          </a:prstGeom>
          <a:noFill/>
          <a:ln/>
        </p:spPr>
        <p:txBody>
          <a:bodyPr wrap="none" lIns="0" tIns="0" rIns="0" bIns="0" rtlCol="0" anchor="t"/>
          <a:lstStyle/>
          <a:p>
            <a:pPr marL="0" indent="0" algn="l">
              <a:lnSpc>
                <a:spcPct val="104000"/>
              </a:lnSpc>
              <a:buNone/>
            </a:pPr>
            <a:r>
              <a:rPr lang="en-US" sz="1200" dirty="0">
                <a:solidFill>
                  <a:srgbClr val="2A2742"/>
                </a:solidFill>
                <a:latin typeface="Outfit ExtraBold" pitchFamily="34" charset="0"/>
                <a:ea typeface="Outfit ExtraBold" pitchFamily="34" charset="-122"/>
                <a:cs typeface="Outfit ExtraBold" pitchFamily="34" charset="-120"/>
              </a:rPr>
              <a:t>Validation humaine</a:t>
            </a:r>
            <a:endParaRPr lang="en-US" sz="1200" dirty="0"/>
          </a:p>
        </p:txBody>
      </p:sp>
      <p:sp>
        <p:nvSpPr>
          <p:cNvPr id="13" name="Text 11"/>
          <p:cNvSpPr/>
          <p:nvPr/>
        </p:nvSpPr>
        <p:spPr>
          <a:xfrm>
            <a:off x="496119" y="3648075"/>
            <a:ext cx="4023196" cy="175840"/>
          </a:xfrm>
          <a:prstGeom prst="rect">
            <a:avLst/>
          </a:prstGeom>
          <a:noFill/>
          <a:ln/>
        </p:spPr>
        <p:txBody>
          <a:bodyPr wrap="none" lIns="0" tIns="0" rIns="0" bIns="0" rtlCol="0" anchor="t"/>
          <a:lstStyle/>
          <a:p>
            <a:pPr marL="0" indent="0" algn="l">
              <a:lnSpc>
                <a:spcPct val="128000"/>
              </a:lnSpc>
              <a:buNone/>
            </a:pPr>
            <a:r>
              <a:rPr lang="en-US" sz="1100" dirty="0">
                <a:solidFill>
                  <a:srgbClr val="2A2742"/>
                </a:solidFill>
                <a:latin typeface="Arimo" pitchFamily="34" charset="0"/>
                <a:ea typeface="Arimo" pitchFamily="34" charset="-122"/>
                <a:cs typeface="Arimo" pitchFamily="34" charset="-120"/>
              </a:rPr>
              <a:t>Processus de validation des alertes par les analystes</a:t>
            </a:r>
            <a:endParaRPr lang="en-US" sz="1100" dirty="0"/>
          </a:p>
        </p:txBody>
      </p:sp>
      <p:sp>
        <p:nvSpPr>
          <p:cNvPr id="14" name="Text 12"/>
          <p:cNvSpPr/>
          <p:nvPr/>
        </p:nvSpPr>
        <p:spPr>
          <a:xfrm>
            <a:off x="4624685" y="3140422"/>
            <a:ext cx="228674" cy="142875"/>
          </a:xfrm>
          <a:prstGeom prst="rect">
            <a:avLst/>
          </a:prstGeom>
          <a:noFill/>
          <a:ln/>
        </p:spPr>
        <p:txBody>
          <a:bodyPr wrap="none" lIns="0" tIns="0" rIns="0" bIns="0" rtlCol="0" anchor="ctr"/>
          <a:lstStyle/>
          <a:p>
            <a:pPr marL="0" indent="0" algn="l">
              <a:lnSpc>
                <a:spcPct val="100000"/>
              </a:lnSpc>
              <a:buNone/>
            </a:pPr>
            <a:r>
              <a:rPr lang="en-US" sz="900" dirty="0">
                <a:solidFill>
                  <a:srgbClr val="2A2742"/>
                </a:solidFill>
                <a:latin typeface="Outfit Light" pitchFamily="34" charset="0"/>
                <a:ea typeface="Outfit Light" pitchFamily="34" charset="-122"/>
                <a:cs typeface="Outfit Light" pitchFamily="34" charset="-120"/>
              </a:rPr>
              <a:t>02</a:t>
            </a:r>
            <a:endParaRPr lang="en-US" sz="900" dirty="0"/>
          </a:p>
        </p:txBody>
      </p:sp>
      <p:sp>
        <p:nvSpPr>
          <p:cNvPr id="15" name="Shape 13"/>
          <p:cNvSpPr/>
          <p:nvPr/>
        </p:nvSpPr>
        <p:spPr>
          <a:xfrm>
            <a:off x="4624685" y="3320430"/>
            <a:ext cx="4023196" cy="14288"/>
          </a:xfrm>
          <a:prstGeom prst="rect">
            <a:avLst/>
          </a:prstGeom>
          <a:solidFill>
            <a:srgbClr val="5E4CE6"/>
          </a:solidFill>
          <a:ln/>
        </p:spPr>
      </p:sp>
      <p:sp>
        <p:nvSpPr>
          <p:cNvPr id="16" name="Text 14"/>
          <p:cNvSpPr/>
          <p:nvPr/>
        </p:nvSpPr>
        <p:spPr>
          <a:xfrm>
            <a:off x="4624685" y="3406155"/>
            <a:ext cx="4023196" cy="178668"/>
          </a:xfrm>
          <a:prstGeom prst="rect">
            <a:avLst/>
          </a:prstGeom>
          <a:noFill/>
          <a:ln/>
        </p:spPr>
        <p:txBody>
          <a:bodyPr wrap="none" lIns="0" tIns="0" rIns="0" bIns="0" rtlCol="0" anchor="t"/>
          <a:lstStyle/>
          <a:p>
            <a:pPr marL="0" indent="0" algn="l">
              <a:lnSpc>
                <a:spcPct val="104000"/>
              </a:lnSpc>
              <a:buNone/>
            </a:pPr>
            <a:r>
              <a:rPr lang="en-US" sz="1200" dirty="0">
                <a:solidFill>
                  <a:srgbClr val="2A2742"/>
                </a:solidFill>
                <a:latin typeface="Outfit ExtraBold" pitchFamily="34" charset="0"/>
                <a:ea typeface="Outfit ExtraBold" pitchFamily="34" charset="-122"/>
                <a:cs typeface="Outfit ExtraBold" pitchFamily="34" charset="-120"/>
              </a:rPr>
              <a:t>Ré-entraînement</a:t>
            </a:r>
            <a:endParaRPr lang="en-US" sz="1200" dirty="0"/>
          </a:p>
        </p:txBody>
      </p:sp>
      <p:sp>
        <p:nvSpPr>
          <p:cNvPr id="17" name="Text 15"/>
          <p:cNvSpPr/>
          <p:nvPr/>
        </p:nvSpPr>
        <p:spPr>
          <a:xfrm>
            <a:off x="4624685" y="3648075"/>
            <a:ext cx="4023196" cy="175840"/>
          </a:xfrm>
          <a:prstGeom prst="rect">
            <a:avLst/>
          </a:prstGeom>
          <a:noFill/>
          <a:ln/>
        </p:spPr>
        <p:txBody>
          <a:bodyPr wrap="none" lIns="0" tIns="0" rIns="0" bIns="0" rtlCol="0" anchor="t"/>
          <a:lstStyle/>
          <a:p>
            <a:pPr marL="0" indent="0" algn="l">
              <a:lnSpc>
                <a:spcPct val="128000"/>
              </a:lnSpc>
              <a:buNone/>
            </a:pPr>
            <a:r>
              <a:rPr lang="en-US" sz="1100" dirty="0">
                <a:solidFill>
                  <a:srgbClr val="2A2742"/>
                </a:solidFill>
                <a:latin typeface="Arimo" pitchFamily="34" charset="0"/>
                <a:ea typeface="Arimo" pitchFamily="34" charset="-122"/>
                <a:cs typeface="Arimo" pitchFamily="34" charset="-120"/>
              </a:rPr>
              <a:t>Planification mensuelle ou trimestrielle du modèle</a:t>
            </a:r>
            <a:endParaRPr lang="en-US" sz="1100" dirty="0"/>
          </a:p>
        </p:txBody>
      </p:sp>
      <p:sp>
        <p:nvSpPr>
          <p:cNvPr id="18" name="Text 16"/>
          <p:cNvSpPr/>
          <p:nvPr/>
        </p:nvSpPr>
        <p:spPr>
          <a:xfrm>
            <a:off x="496119" y="4015011"/>
            <a:ext cx="228674" cy="142875"/>
          </a:xfrm>
          <a:prstGeom prst="rect">
            <a:avLst/>
          </a:prstGeom>
          <a:noFill/>
          <a:ln/>
        </p:spPr>
        <p:txBody>
          <a:bodyPr wrap="none" lIns="0" tIns="0" rIns="0" bIns="0" rtlCol="0" anchor="ctr"/>
          <a:lstStyle/>
          <a:p>
            <a:pPr marL="0" indent="0" algn="l">
              <a:lnSpc>
                <a:spcPct val="100000"/>
              </a:lnSpc>
              <a:buNone/>
            </a:pPr>
            <a:r>
              <a:rPr lang="en-US" sz="900" dirty="0">
                <a:solidFill>
                  <a:srgbClr val="2A2742"/>
                </a:solidFill>
                <a:latin typeface="Outfit Light" pitchFamily="34" charset="0"/>
                <a:ea typeface="Outfit Light" pitchFamily="34" charset="-122"/>
                <a:cs typeface="Outfit Light" pitchFamily="34" charset="-120"/>
              </a:rPr>
              <a:t>03</a:t>
            </a:r>
            <a:endParaRPr lang="en-US" sz="900" dirty="0"/>
          </a:p>
        </p:txBody>
      </p:sp>
      <p:sp>
        <p:nvSpPr>
          <p:cNvPr id="19" name="Shape 17"/>
          <p:cNvSpPr/>
          <p:nvPr/>
        </p:nvSpPr>
        <p:spPr>
          <a:xfrm>
            <a:off x="496119" y="4195018"/>
            <a:ext cx="4023196" cy="14288"/>
          </a:xfrm>
          <a:prstGeom prst="rect">
            <a:avLst/>
          </a:prstGeom>
          <a:solidFill>
            <a:srgbClr val="5E4CE6"/>
          </a:solidFill>
          <a:ln/>
        </p:spPr>
      </p:sp>
      <p:sp>
        <p:nvSpPr>
          <p:cNvPr id="20" name="Text 18"/>
          <p:cNvSpPr/>
          <p:nvPr/>
        </p:nvSpPr>
        <p:spPr>
          <a:xfrm>
            <a:off x="496119" y="4280743"/>
            <a:ext cx="4023196" cy="178668"/>
          </a:xfrm>
          <a:prstGeom prst="rect">
            <a:avLst/>
          </a:prstGeom>
          <a:noFill/>
          <a:ln/>
        </p:spPr>
        <p:txBody>
          <a:bodyPr wrap="none" lIns="0" tIns="0" rIns="0" bIns="0" rtlCol="0" anchor="t"/>
          <a:lstStyle/>
          <a:p>
            <a:pPr marL="0" indent="0" algn="l">
              <a:lnSpc>
                <a:spcPct val="104000"/>
              </a:lnSpc>
              <a:buNone/>
            </a:pPr>
            <a:r>
              <a:rPr lang="en-US" sz="1200" dirty="0">
                <a:solidFill>
                  <a:srgbClr val="2A2742"/>
                </a:solidFill>
                <a:latin typeface="Outfit ExtraBold" pitchFamily="34" charset="0"/>
                <a:ea typeface="Outfit ExtraBold" pitchFamily="34" charset="-122"/>
                <a:cs typeface="Outfit ExtraBold" pitchFamily="34" charset="-120"/>
              </a:rPr>
              <a:t>Adaptation locale</a:t>
            </a:r>
            <a:endParaRPr lang="en-US" sz="1200" dirty="0"/>
          </a:p>
        </p:txBody>
      </p:sp>
      <p:sp>
        <p:nvSpPr>
          <p:cNvPr id="21" name="Text 19"/>
          <p:cNvSpPr/>
          <p:nvPr/>
        </p:nvSpPr>
        <p:spPr>
          <a:xfrm>
            <a:off x="496119" y="4522663"/>
            <a:ext cx="4023196" cy="175840"/>
          </a:xfrm>
          <a:prstGeom prst="rect">
            <a:avLst/>
          </a:prstGeom>
          <a:noFill/>
          <a:ln/>
        </p:spPr>
        <p:txBody>
          <a:bodyPr wrap="none" lIns="0" tIns="0" rIns="0" bIns="0" rtlCol="0" anchor="t"/>
          <a:lstStyle/>
          <a:p>
            <a:pPr marL="0" indent="0" algn="l">
              <a:lnSpc>
                <a:spcPct val="128000"/>
              </a:lnSpc>
              <a:buNone/>
            </a:pPr>
            <a:r>
              <a:rPr lang="en-US" sz="1100" dirty="0">
                <a:solidFill>
                  <a:srgbClr val="2A2742"/>
                </a:solidFill>
                <a:latin typeface="Arimo" pitchFamily="34" charset="0"/>
                <a:ea typeface="Arimo" pitchFamily="34" charset="-122"/>
                <a:cs typeface="Arimo" pitchFamily="34" charset="-120"/>
              </a:rPr>
              <a:t>Ajustement des seuils lorsque des données haïtiennes seront disponibles</a:t>
            </a:r>
            <a:endParaRPr lang="en-US" sz="1100" dirty="0"/>
          </a:p>
        </p:txBody>
      </p:sp>
    </p:spTree>
    <p:extLst>
      <p:ext uri="{BB962C8B-B14F-4D97-AF65-F5344CB8AC3E}">
        <p14:creationId xmlns:p14="http://schemas.microsoft.com/office/powerpoint/2010/main" val="305173556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496119" y="171688"/>
            <a:ext cx="8151763" cy="260449"/>
          </a:xfrm>
          <a:prstGeom prst="rect">
            <a:avLst/>
          </a:prstGeom>
          <a:noFill/>
          <a:ln/>
        </p:spPr>
        <p:txBody>
          <a:bodyPr wrap="none" lIns="0" tIns="0" rIns="0" bIns="0" rtlCol="0" anchor="t"/>
          <a:lstStyle/>
          <a:p>
            <a:pPr>
              <a:lnSpc>
                <a:spcPct val="104000"/>
              </a:lnSpc>
            </a:pPr>
            <a:r>
              <a:rPr lang="en-US" sz="1600" dirty="0">
                <a:solidFill>
                  <a:srgbClr val="231971"/>
                </a:solidFill>
                <a:latin typeface="Outfit ExtraBold" pitchFamily="34" charset="0"/>
                <a:ea typeface="Outfit ExtraBold" pitchFamily="34" charset="-122"/>
                <a:cs typeface="Outfit ExtraBold" pitchFamily="34" charset="-120"/>
              </a:rPr>
              <a:t>CONCLUSION </a:t>
            </a:r>
            <a:r>
              <a:rPr lang="en-US" sz="1600" dirty="0" smtClean="0">
                <a:solidFill>
                  <a:srgbClr val="231971"/>
                </a:solidFill>
                <a:latin typeface="Outfit ExtraBold" pitchFamily="34" charset="0"/>
                <a:ea typeface="Outfit ExtraBold" pitchFamily="34" charset="-122"/>
                <a:cs typeface="Outfit ExtraBold" pitchFamily="34" charset="-120"/>
              </a:rPr>
              <a:t>ET </a:t>
            </a:r>
            <a:r>
              <a:rPr lang="en-US" sz="1600" dirty="0">
                <a:solidFill>
                  <a:srgbClr val="231971"/>
                </a:solidFill>
                <a:latin typeface="Outfit ExtraBold" pitchFamily="34" charset="0"/>
                <a:ea typeface="Outfit ExtraBold" pitchFamily="34" charset="-122"/>
                <a:cs typeface="Outfit ExtraBold" pitchFamily="34" charset="-120"/>
              </a:rPr>
              <a:t>RECOMMANDATIONS</a:t>
            </a:r>
          </a:p>
        </p:txBody>
      </p:sp>
      <p:sp>
        <p:nvSpPr>
          <p:cNvPr id="5" name="Text 3"/>
          <p:cNvSpPr/>
          <p:nvPr/>
        </p:nvSpPr>
        <p:spPr>
          <a:xfrm>
            <a:off x="496119" y="477976"/>
            <a:ext cx="8151763" cy="222945"/>
          </a:xfrm>
          <a:prstGeom prst="rect">
            <a:avLst/>
          </a:prstGeom>
          <a:noFill/>
          <a:ln/>
        </p:spPr>
        <p:txBody>
          <a:bodyPr wrap="square" lIns="0" tIns="0" rIns="0" bIns="0" rtlCol="0" anchor="t">
            <a:noAutofit/>
          </a:bodyPr>
          <a:lstStyle/>
          <a:p>
            <a:pPr marL="0" indent="0" algn="just">
              <a:lnSpc>
                <a:spcPct val="111000"/>
              </a:lnSpc>
              <a:buNone/>
            </a:pPr>
            <a:r>
              <a:rPr lang="en-US" sz="1100" dirty="0">
                <a:solidFill>
                  <a:srgbClr val="2A2742"/>
                </a:solidFill>
                <a:latin typeface="Arimo" pitchFamily="34" charset="0"/>
                <a:ea typeface="Arimo" pitchFamily="34" charset="-122"/>
                <a:cs typeface="Arimo" pitchFamily="34" charset="-120"/>
              </a:rPr>
              <a:t>Ce projet a permis de concevoir un système intelligent de détection d'anomalies à double niveau : un niveau descriptif (Power BI, audit rapide par Z-Score) et un niveau </a:t>
            </a:r>
            <a:r>
              <a:rPr lang="en-US" sz="1100" dirty="0" err="1">
                <a:solidFill>
                  <a:srgbClr val="2A2742"/>
                </a:solidFill>
                <a:latin typeface="Arimo" pitchFamily="34" charset="0"/>
                <a:ea typeface="Arimo" pitchFamily="34" charset="-122"/>
                <a:cs typeface="Arimo" pitchFamily="34" charset="-120"/>
              </a:rPr>
              <a:t>algorithmique</a:t>
            </a:r>
            <a:r>
              <a:rPr lang="en-US" sz="1100" dirty="0">
                <a:solidFill>
                  <a:srgbClr val="2A2742"/>
                </a:solidFill>
                <a:latin typeface="Arimo" pitchFamily="34" charset="0"/>
                <a:ea typeface="Arimo" pitchFamily="34" charset="-122"/>
                <a:cs typeface="Arimo" pitchFamily="34" charset="-120"/>
              </a:rPr>
              <a:t> </a:t>
            </a:r>
            <a:r>
              <a:rPr lang="en-US" sz="1100" dirty="0" smtClean="0">
                <a:solidFill>
                  <a:srgbClr val="2A2742"/>
                </a:solidFill>
                <a:latin typeface="Arimo" pitchFamily="34" charset="0"/>
                <a:ea typeface="Arimo" pitchFamily="34" charset="-122"/>
                <a:cs typeface="Arimo" pitchFamily="34" charset="-120"/>
              </a:rPr>
              <a:t>(Isolation </a:t>
            </a:r>
            <a:r>
              <a:rPr lang="en-US" sz="1100" dirty="0">
                <a:solidFill>
                  <a:srgbClr val="2A2742"/>
                </a:solidFill>
                <a:latin typeface="Arimo" pitchFamily="34" charset="0"/>
                <a:ea typeface="Arimo" pitchFamily="34" charset="-122"/>
                <a:cs typeface="Arimo" pitchFamily="34" charset="-120"/>
              </a:rPr>
              <a:t>Forest + DBSCAN). L'approche Dataset Proxy a validé la robustesse mathématique des algorithmes, transposable aux données locales haïtiennes.</a:t>
            </a:r>
            <a:endParaRPr lang="en-US" sz="1100" dirty="0"/>
          </a:p>
        </p:txBody>
      </p:sp>
      <p:pic>
        <p:nvPicPr>
          <p:cNvPr id="6" name="Image 0" descr="preencoded.png"/>
          <p:cNvPicPr>
            <a:picLocks noChangeAspect="1"/>
          </p:cNvPicPr>
          <p:nvPr/>
        </p:nvPicPr>
        <p:blipFill>
          <a:blip r:embed="rId3">
            <a:extLst>
              <a:ext uri="{96DAC541-7B7A-43D3-8B79-37D633B846F1}">
                <asvg:svgBlip xmlns="" xmlns:asvg="http://schemas.microsoft.com/office/drawing/2016/SVG/main" r:embed="rId4"/>
              </a:ext>
            </a:extLst>
          </a:blip>
          <a:stretch>
            <a:fillRect/>
          </a:stretch>
        </p:blipFill>
        <p:spPr>
          <a:xfrm>
            <a:off x="496119" y="1160115"/>
            <a:ext cx="8151763" cy="500062"/>
          </a:xfrm>
          <a:prstGeom prst="rect">
            <a:avLst/>
          </a:prstGeom>
        </p:spPr>
      </p:pic>
      <p:sp>
        <p:nvSpPr>
          <p:cNvPr id="7" name="Text 4"/>
          <p:cNvSpPr/>
          <p:nvPr/>
        </p:nvSpPr>
        <p:spPr>
          <a:xfrm>
            <a:off x="607442" y="1332012"/>
            <a:ext cx="125016" cy="156270"/>
          </a:xfrm>
          <a:prstGeom prst="rect">
            <a:avLst/>
          </a:prstGeom>
          <a:noFill/>
          <a:ln/>
        </p:spPr>
        <p:txBody>
          <a:bodyPr wrap="none" lIns="0" tIns="0" rIns="0" bIns="0" rtlCol="0" anchor="ctr"/>
          <a:lstStyle/>
          <a:p>
            <a:pPr marL="0" indent="0" algn="ctr">
              <a:lnSpc>
                <a:spcPct val="100000"/>
              </a:lnSpc>
              <a:buNone/>
            </a:pPr>
            <a:r>
              <a:rPr lang="en-US" sz="950" dirty="0">
                <a:solidFill>
                  <a:srgbClr val="2A2742"/>
                </a:solidFill>
                <a:latin typeface="Outfit ExtraBold" pitchFamily="34" charset="0"/>
                <a:ea typeface="Outfit ExtraBold" pitchFamily="34" charset="-122"/>
                <a:cs typeface="Outfit ExtraBold" pitchFamily="34" charset="-120"/>
              </a:rPr>
              <a:t>1</a:t>
            </a:r>
            <a:endParaRPr lang="en-US" sz="950" dirty="0"/>
          </a:p>
        </p:txBody>
      </p:sp>
      <p:sp>
        <p:nvSpPr>
          <p:cNvPr id="8" name="Text 5"/>
          <p:cNvSpPr/>
          <p:nvPr/>
        </p:nvSpPr>
        <p:spPr>
          <a:xfrm>
            <a:off x="894978" y="1252984"/>
            <a:ext cx="7660035" cy="130225"/>
          </a:xfrm>
          <a:prstGeom prst="rect">
            <a:avLst/>
          </a:prstGeom>
          <a:noFill/>
          <a:ln/>
        </p:spPr>
        <p:txBody>
          <a:bodyPr wrap="none" lIns="0" tIns="0" rIns="0" bIns="0" rtlCol="0" anchor="t"/>
          <a:lstStyle/>
          <a:p>
            <a:pPr marL="0" indent="0" algn="l">
              <a:lnSpc>
                <a:spcPct val="104000"/>
              </a:lnSpc>
              <a:buNone/>
            </a:pPr>
            <a:r>
              <a:rPr lang="en-US" sz="1100" dirty="0">
                <a:solidFill>
                  <a:srgbClr val="2A2742"/>
                </a:solidFill>
                <a:latin typeface="Outfit ExtraBold" pitchFamily="34" charset="0"/>
                <a:ea typeface="Outfit ExtraBold" pitchFamily="34" charset="-122"/>
                <a:cs typeface="Outfit ExtraBold" pitchFamily="34" charset="-120"/>
              </a:rPr>
              <a:t>Déploiement du modèle</a:t>
            </a:r>
            <a:endParaRPr lang="en-US" sz="1100" dirty="0"/>
          </a:p>
        </p:txBody>
      </p:sp>
      <p:sp>
        <p:nvSpPr>
          <p:cNvPr id="9" name="Text 6"/>
          <p:cNvSpPr/>
          <p:nvPr/>
        </p:nvSpPr>
        <p:spPr>
          <a:xfrm>
            <a:off x="894978" y="1416769"/>
            <a:ext cx="7660035" cy="111472"/>
          </a:xfrm>
          <a:prstGeom prst="rect">
            <a:avLst/>
          </a:prstGeom>
          <a:noFill/>
          <a:ln/>
        </p:spPr>
        <p:txBody>
          <a:bodyPr wrap="none" lIns="0" tIns="0" rIns="0" bIns="0" rtlCol="0" anchor="t"/>
          <a:lstStyle/>
          <a:p>
            <a:pPr marL="0" indent="0" algn="l">
              <a:lnSpc>
                <a:spcPct val="111000"/>
              </a:lnSpc>
              <a:buNone/>
            </a:pPr>
            <a:r>
              <a:rPr lang="en-US" sz="1000" dirty="0">
                <a:solidFill>
                  <a:srgbClr val="2A2742"/>
                </a:solidFill>
                <a:latin typeface="Arimo" pitchFamily="34" charset="0"/>
                <a:ea typeface="Arimo" pitchFamily="34" charset="-122"/>
                <a:cs typeface="Arimo" pitchFamily="34" charset="-120"/>
              </a:rPr>
              <a:t>Déployer Isolation Forest avec le </a:t>
            </a:r>
            <a:r>
              <a:rPr lang="en-US" sz="1000" dirty="0" err="1">
                <a:solidFill>
                  <a:srgbClr val="2A2742"/>
                </a:solidFill>
                <a:latin typeface="Arimo" pitchFamily="34" charset="0"/>
                <a:ea typeface="Arimo" pitchFamily="34" charset="-122"/>
                <a:cs typeface="Arimo" pitchFamily="34" charset="-120"/>
              </a:rPr>
              <a:t>seuil</a:t>
            </a:r>
            <a:r>
              <a:rPr lang="en-US" sz="1000" dirty="0">
                <a:solidFill>
                  <a:srgbClr val="2A2742"/>
                </a:solidFill>
                <a:latin typeface="Arimo" pitchFamily="34" charset="0"/>
                <a:ea typeface="Arimo" pitchFamily="34" charset="-122"/>
                <a:cs typeface="Arimo" pitchFamily="34" charset="-120"/>
              </a:rPr>
              <a:t> </a:t>
            </a:r>
            <a:r>
              <a:rPr lang="en-US" sz="1000" dirty="0" smtClean="0">
                <a:solidFill>
                  <a:srgbClr val="2A2742"/>
                </a:solidFill>
                <a:latin typeface="Arimo" pitchFamily="34" charset="0"/>
                <a:ea typeface="Arimo" pitchFamily="34" charset="-122"/>
                <a:cs typeface="Arimo" pitchFamily="34" charset="-120"/>
              </a:rPr>
              <a:t>caliber</a:t>
            </a:r>
            <a:r>
              <a:rPr lang="en-US" sz="1000" dirty="0" smtClean="0">
                <a:solidFill>
                  <a:srgbClr val="2A2742"/>
                </a:solidFill>
                <a:latin typeface="Arimo" pitchFamily="34" charset="0"/>
                <a:ea typeface="Arimo" pitchFamily="34" charset="-122"/>
                <a:cs typeface="Arimo" pitchFamily="34" charset="-120"/>
              </a:rPr>
              <a:t>.</a:t>
            </a:r>
            <a:endParaRPr lang="en-US" sz="1000" dirty="0"/>
          </a:p>
        </p:txBody>
      </p:sp>
      <p:pic>
        <p:nvPicPr>
          <p:cNvPr id="10" name="Image 1" descr="preencoded.png"/>
          <p:cNvPicPr>
            <a:picLocks noChangeAspect="1"/>
          </p:cNvPicPr>
          <p:nvPr/>
        </p:nvPicPr>
        <p:blipFill>
          <a:blip r:embed="rId3">
            <a:extLst>
              <a:ext uri="{96DAC541-7B7A-43D3-8B79-37D633B846F1}">
                <asvg:svgBlip xmlns="" xmlns:asvg="http://schemas.microsoft.com/office/drawing/2016/SVG/main" r:embed="rId5"/>
              </a:ext>
            </a:extLst>
          </a:blip>
          <a:stretch>
            <a:fillRect/>
          </a:stretch>
        </p:blipFill>
        <p:spPr>
          <a:xfrm>
            <a:off x="496119" y="1716137"/>
            <a:ext cx="8151763" cy="500062"/>
          </a:xfrm>
          <a:prstGeom prst="rect">
            <a:avLst/>
          </a:prstGeom>
        </p:spPr>
      </p:pic>
      <p:sp>
        <p:nvSpPr>
          <p:cNvPr id="11" name="Text 7"/>
          <p:cNvSpPr/>
          <p:nvPr/>
        </p:nvSpPr>
        <p:spPr>
          <a:xfrm>
            <a:off x="607442" y="1888034"/>
            <a:ext cx="125016" cy="156270"/>
          </a:xfrm>
          <a:prstGeom prst="rect">
            <a:avLst/>
          </a:prstGeom>
          <a:noFill/>
          <a:ln/>
        </p:spPr>
        <p:txBody>
          <a:bodyPr wrap="none" lIns="0" tIns="0" rIns="0" bIns="0" rtlCol="0" anchor="ctr"/>
          <a:lstStyle/>
          <a:p>
            <a:pPr marL="0" indent="0" algn="ctr">
              <a:lnSpc>
                <a:spcPct val="100000"/>
              </a:lnSpc>
              <a:buNone/>
            </a:pPr>
            <a:r>
              <a:rPr lang="en-US" sz="950" dirty="0">
                <a:solidFill>
                  <a:srgbClr val="2A2742"/>
                </a:solidFill>
                <a:latin typeface="Outfit ExtraBold" pitchFamily="34" charset="0"/>
                <a:ea typeface="Outfit ExtraBold" pitchFamily="34" charset="-122"/>
                <a:cs typeface="Outfit ExtraBold" pitchFamily="34" charset="-120"/>
              </a:rPr>
              <a:t>2</a:t>
            </a:r>
            <a:endParaRPr lang="en-US" sz="950" dirty="0"/>
          </a:p>
        </p:txBody>
      </p:sp>
      <p:sp>
        <p:nvSpPr>
          <p:cNvPr id="12" name="Text 8"/>
          <p:cNvSpPr/>
          <p:nvPr/>
        </p:nvSpPr>
        <p:spPr>
          <a:xfrm>
            <a:off x="894978" y="1809006"/>
            <a:ext cx="7660035" cy="130225"/>
          </a:xfrm>
          <a:prstGeom prst="rect">
            <a:avLst/>
          </a:prstGeom>
          <a:noFill/>
          <a:ln/>
        </p:spPr>
        <p:txBody>
          <a:bodyPr wrap="none" lIns="0" tIns="0" rIns="0" bIns="0" rtlCol="0" anchor="t"/>
          <a:lstStyle/>
          <a:p>
            <a:pPr marL="0" indent="0" algn="l">
              <a:lnSpc>
                <a:spcPct val="104000"/>
              </a:lnSpc>
              <a:buNone/>
            </a:pPr>
            <a:r>
              <a:rPr lang="en-US" sz="1100" dirty="0">
                <a:solidFill>
                  <a:srgbClr val="2A2742"/>
                </a:solidFill>
                <a:latin typeface="Outfit ExtraBold" pitchFamily="34" charset="0"/>
                <a:ea typeface="Outfit ExtraBold" pitchFamily="34" charset="-122"/>
                <a:cs typeface="Outfit ExtraBold" pitchFamily="34" charset="-120"/>
              </a:rPr>
              <a:t>Gestion des faux positifs</a:t>
            </a:r>
            <a:endParaRPr lang="en-US" sz="1100" dirty="0"/>
          </a:p>
        </p:txBody>
      </p:sp>
      <p:sp>
        <p:nvSpPr>
          <p:cNvPr id="13" name="Text 9"/>
          <p:cNvSpPr/>
          <p:nvPr/>
        </p:nvSpPr>
        <p:spPr>
          <a:xfrm>
            <a:off x="894978" y="1972791"/>
            <a:ext cx="7660035" cy="111472"/>
          </a:xfrm>
          <a:prstGeom prst="rect">
            <a:avLst/>
          </a:prstGeom>
          <a:noFill/>
          <a:ln/>
        </p:spPr>
        <p:txBody>
          <a:bodyPr wrap="none" lIns="0" tIns="0" rIns="0" bIns="0" rtlCol="0" anchor="t"/>
          <a:lstStyle/>
          <a:p>
            <a:pPr marL="0" indent="0" algn="l">
              <a:lnSpc>
                <a:spcPct val="111000"/>
              </a:lnSpc>
              <a:buNone/>
            </a:pPr>
            <a:r>
              <a:rPr lang="en-US" sz="1000" dirty="0">
                <a:solidFill>
                  <a:srgbClr val="2A2742"/>
                </a:solidFill>
                <a:latin typeface="Arimo" pitchFamily="34" charset="0"/>
                <a:ea typeface="Arimo" pitchFamily="34" charset="-122"/>
                <a:cs typeface="Arimo" pitchFamily="34" charset="-120"/>
              </a:rPr>
              <a:t>Système de feedback des analystes, ajustement des seuils par canal </a:t>
            </a:r>
            <a:r>
              <a:rPr lang="en-US" sz="1000" dirty="0" smtClean="0">
                <a:solidFill>
                  <a:srgbClr val="2A2742"/>
                </a:solidFill>
                <a:latin typeface="Arimo" pitchFamily="34" charset="0"/>
                <a:ea typeface="Arimo" pitchFamily="34" charset="-122"/>
                <a:cs typeface="Arimo" pitchFamily="34" charset="-120"/>
              </a:rPr>
              <a:t>, </a:t>
            </a:r>
            <a:r>
              <a:rPr lang="en-US" sz="1000" dirty="0">
                <a:solidFill>
                  <a:srgbClr val="2A2742"/>
                </a:solidFill>
                <a:latin typeface="Arimo" pitchFamily="34" charset="0"/>
                <a:ea typeface="Arimo" pitchFamily="34" charset="-122"/>
                <a:cs typeface="Arimo" pitchFamily="34" charset="-120"/>
              </a:rPr>
              <a:t>validation humaine avant blocage.</a:t>
            </a:r>
            <a:endParaRPr lang="en-US" sz="1000" dirty="0"/>
          </a:p>
        </p:txBody>
      </p:sp>
      <p:pic>
        <p:nvPicPr>
          <p:cNvPr id="14" name="Image 2" descr="preencoded.png"/>
          <p:cNvPicPr>
            <a:picLocks noChangeAspect="1"/>
          </p:cNvPicPr>
          <p:nvPr/>
        </p:nvPicPr>
        <p:blipFill>
          <a:blip r:embed="rId3">
            <a:extLst>
              <a:ext uri="{96DAC541-7B7A-43D3-8B79-37D633B846F1}">
                <asvg:svgBlip xmlns="" xmlns:asvg="http://schemas.microsoft.com/office/drawing/2016/SVG/main" r:embed="rId6"/>
              </a:ext>
            </a:extLst>
          </a:blip>
          <a:stretch>
            <a:fillRect/>
          </a:stretch>
        </p:blipFill>
        <p:spPr>
          <a:xfrm>
            <a:off x="496119" y="2272159"/>
            <a:ext cx="8151763" cy="500062"/>
          </a:xfrm>
          <a:prstGeom prst="rect">
            <a:avLst/>
          </a:prstGeom>
        </p:spPr>
      </p:pic>
      <p:sp>
        <p:nvSpPr>
          <p:cNvPr id="15" name="Text 10"/>
          <p:cNvSpPr/>
          <p:nvPr/>
        </p:nvSpPr>
        <p:spPr>
          <a:xfrm>
            <a:off x="607442" y="2444055"/>
            <a:ext cx="125016" cy="156270"/>
          </a:xfrm>
          <a:prstGeom prst="rect">
            <a:avLst/>
          </a:prstGeom>
          <a:noFill/>
          <a:ln/>
        </p:spPr>
        <p:txBody>
          <a:bodyPr wrap="none" lIns="0" tIns="0" rIns="0" bIns="0" rtlCol="0" anchor="ctr"/>
          <a:lstStyle/>
          <a:p>
            <a:pPr marL="0" indent="0" algn="ctr">
              <a:lnSpc>
                <a:spcPct val="100000"/>
              </a:lnSpc>
              <a:buNone/>
            </a:pPr>
            <a:r>
              <a:rPr lang="en-US" sz="950" dirty="0">
                <a:solidFill>
                  <a:srgbClr val="2A2742"/>
                </a:solidFill>
                <a:latin typeface="Outfit ExtraBold" pitchFamily="34" charset="0"/>
                <a:ea typeface="Outfit ExtraBold" pitchFamily="34" charset="-122"/>
                <a:cs typeface="Outfit ExtraBold" pitchFamily="34" charset="-120"/>
              </a:rPr>
              <a:t>3</a:t>
            </a:r>
            <a:endParaRPr lang="en-US" sz="950" dirty="0"/>
          </a:p>
        </p:txBody>
      </p:sp>
      <p:sp>
        <p:nvSpPr>
          <p:cNvPr id="16" name="Text 11"/>
          <p:cNvSpPr/>
          <p:nvPr/>
        </p:nvSpPr>
        <p:spPr>
          <a:xfrm>
            <a:off x="894978" y="2365028"/>
            <a:ext cx="7660035" cy="130225"/>
          </a:xfrm>
          <a:prstGeom prst="rect">
            <a:avLst/>
          </a:prstGeom>
          <a:noFill/>
          <a:ln/>
        </p:spPr>
        <p:txBody>
          <a:bodyPr wrap="none" lIns="0" tIns="0" rIns="0" bIns="0" rtlCol="0" anchor="t"/>
          <a:lstStyle/>
          <a:p>
            <a:pPr marL="0" indent="0" algn="l">
              <a:lnSpc>
                <a:spcPct val="104000"/>
              </a:lnSpc>
              <a:buNone/>
            </a:pPr>
            <a:r>
              <a:rPr lang="en-US" sz="1100" dirty="0">
                <a:solidFill>
                  <a:srgbClr val="2A2742"/>
                </a:solidFill>
                <a:latin typeface="Outfit ExtraBold" pitchFamily="34" charset="0"/>
                <a:ea typeface="Outfit ExtraBold" pitchFamily="34" charset="-122"/>
                <a:cs typeface="Outfit ExtraBold" pitchFamily="34" charset="-120"/>
              </a:rPr>
              <a:t>Surveillance prioritaire</a:t>
            </a:r>
            <a:endParaRPr lang="en-US" sz="1100" dirty="0"/>
          </a:p>
        </p:txBody>
      </p:sp>
      <p:sp>
        <p:nvSpPr>
          <p:cNvPr id="17" name="Text 12"/>
          <p:cNvSpPr/>
          <p:nvPr/>
        </p:nvSpPr>
        <p:spPr>
          <a:xfrm>
            <a:off x="894978" y="2528813"/>
            <a:ext cx="7660035" cy="111472"/>
          </a:xfrm>
          <a:prstGeom prst="rect">
            <a:avLst/>
          </a:prstGeom>
          <a:noFill/>
          <a:ln/>
        </p:spPr>
        <p:txBody>
          <a:bodyPr wrap="none" lIns="0" tIns="0" rIns="0" bIns="0" rtlCol="0" anchor="t"/>
          <a:lstStyle/>
          <a:p>
            <a:pPr marL="0" indent="0" algn="l">
              <a:lnSpc>
                <a:spcPct val="111000"/>
              </a:lnSpc>
              <a:buNone/>
            </a:pPr>
            <a:r>
              <a:rPr lang="en-US" sz="1000" dirty="0">
                <a:solidFill>
                  <a:srgbClr val="2A2742"/>
                </a:solidFill>
                <a:latin typeface="Arimo" pitchFamily="34" charset="0"/>
                <a:ea typeface="Arimo" pitchFamily="34" charset="-122"/>
                <a:cs typeface="Arimo" pitchFamily="34" charset="-120"/>
              </a:rPr>
              <a:t>Priorité absolue aux </a:t>
            </a:r>
            <a:r>
              <a:rPr lang="en-US" sz="1100" dirty="0">
                <a:solidFill>
                  <a:srgbClr val="2A2742"/>
                </a:solidFill>
                <a:latin typeface="Arimo" pitchFamily="34" charset="0"/>
                <a:ea typeface="Arimo" pitchFamily="34" charset="-122"/>
                <a:cs typeface="Arimo" pitchFamily="34" charset="-120"/>
              </a:rPr>
              <a:t>canaux</a:t>
            </a:r>
            <a:r>
              <a:rPr lang="en-US" sz="1000" dirty="0">
                <a:solidFill>
                  <a:srgbClr val="2A2742"/>
                </a:solidFill>
                <a:latin typeface="Arimo" pitchFamily="34" charset="0"/>
                <a:ea typeface="Arimo" pitchFamily="34" charset="-122"/>
                <a:cs typeface="Arimo" pitchFamily="34" charset="-120"/>
              </a:rPr>
              <a:t> API et Web, profils de risque différenciés par type de client.</a:t>
            </a:r>
            <a:endParaRPr lang="en-US" sz="1000" dirty="0"/>
          </a:p>
        </p:txBody>
      </p:sp>
      <p:pic>
        <p:nvPicPr>
          <p:cNvPr id="18" name="Image 3" descr="preencoded.png"/>
          <p:cNvPicPr>
            <a:picLocks noChangeAspect="1"/>
          </p:cNvPicPr>
          <p:nvPr/>
        </p:nvPicPr>
        <p:blipFill>
          <a:blip r:embed="rId3">
            <a:extLst>
              <a:ext uri="{96DAC541-7B7A-43D3-8B79-37D633B846F1}">
                <asvg:svgBlip xmlns="" xmlns:asvg="http://schemas.microsoft.com/office/drawing/2016/SVG/main" r:embed="rId8"/>
              </a:ext>
            </a:extLst>
          </a:blip>
          <a:stretch>
            <a:fillRect/>
          </a:stretch>
        </p:blipFill>
        <p:spPr>
          <a:xfrm>
            <a:off x="496118" y="2828181"/>
            <a:ext cx="8151763" cy="500062"/>
          </a:xfrm>
          <a:prstGeom prst="rect">
            <a:avLst/>
          </a:prstGeom>
        </p:spPr>
      </p:pic>
      <p:sp>
        <p:nvSpPr>
          <p:cNvPr id="19" name="Text 13"/>
          <p:cNvSpPr/>
          <p:nvPr/>
        </p:nvSpPr>
        <p:spPr>
          <a:xfrm>
            <a:off x="607442" y="3000077"/>
            <a:ext cx="125016" cy="156270"/>
          </a:xfrm>
          <a:prstGeom prst="rect">
            <a:avLst/>
          </a:prstGeom>
          <a:noFill/>
          <a:ln/>
        </p:spPr>
        <p:txBody>
          <a:bodyPr wrap="none" lIns="0" tIns="0" rIns="0" bIns="0" rtlCol="0" anchor="ctr"/>
          <a:lstStyle/>
          <a:p>
            <a:pPr marL="0" indent="0" algn="ctr">
              <a:lnSpc>
                <a:spcPct val="100000"/>
              </a:lnSpc>
              <a:buNone/>
            </a:pPr>
            <a:r>
              <a:rPr lang="en-US" sz="950" dirty="0">
                <a:solidFill>
                  <a:srgbClr val="2A2742"/>
                </a:solidFill>
                <a:latin typeface="Outfit ExtraBold" pitchFamily="34" charset="0"/>
                <a:ea typeface="Outfit ExtraBold" pitchFamily="34" charset="-122"/>
                <a:cs typeface="Outfit ExtraBold" pitchFamily="34" charset="-120"/>
              </a:rPr>
              <a:t>4</a:t>
            </a:r>
            <a:endParaRPr lang="en-US" sz="950" dirty="0"/>
          </a:p>
        </p:txBody>
      </p:sp>
      <p:sp>
        <p:nvSpPr>
          <p:cNvPr id="20" name="Text 14"/>
          <p:cNvSpPr/>
          <p:nvPr/>
        </p:nvSpPr>
        <p:spPr>
          <a:xfrm>
            <a:off x="894978" y="2921050"/>
            <a:ext cx="7660035" cy="130225"/>
          </a:xfrm>
          <a:prstGeom prst="rect">
            <a:avLst/>
          </a:prstGeom>
          <a:noFill/>
          <a:ln/>
        </p:spPr>
        <p:txBody>
          <a:bodyPr wrap="none" lIns="0" tIns="0" rIns="0" bIns="0" rtlCol="0" anchor="t"/>
          <a:lstStyle/>
          <a:p>
            <a:pPr marL="0" indent="0" algn="l">
              <a:lnSpc>
                <a:spcPct val="104000"/>
              </a:lnSpc>
              <a:buNone/>
            </a:pPr>
            <a:r>
              <a:rPr lang="en-US" sz="1100" dirty="0">
                <a:solidFill>
                  <a:srgbClr val="2A2742"/>
                </a:solidFill>
                <a:latin typeface="Outfit ExtraBold" pitchFamily="34" charset="0"/>
                <a:ea typeface="Outfit ExtraBold" pitchFamily="34" charset="-122"/>
                <a:cs typeface="Outfit ExtraBold" pitchFamily="34" charset="-120"/>
              </a:rPr>
              <a:t>Amélioration continue</a:t>
            </a:r>
            <a:endParaRPr lang="en-US" sz="1100" dirty="0"/>
          </a:p>
        </p:txBody>
      </p:sp>
      <p:sp>
        <p:nvSpPr>
          <p:cNvPr id="21" name="Text 15"/>
          <p:cNvSpPr/>
          <p:nvPr/>
        </p:nvSpPr>
        <p:spPr>
          <a:xfrm>
            <a:off x="894978" y="3084835"/>
            <a:ext cx="7660035" cy="111472"/>
          </a:xfrm>
          <a:prstGeom prst="rect">
            <a:avLst/>
          </a:prstGeom>
          <a:noFill/>
          <a:ln/>
        </p:spPr>
        <p:txBody>
          <a:bodyPr wrap="none" lIns="0" tIns="0" rIns="0" bIns="0" rtlCol="0" anchor="t"/>
          <a:lstStyle/>
          <a:p>
            <a:pPr marL="0" indent="0" algn="l">
              <a:lnSpc>
                <a:spcPct val="111000"/>
              </a:lnSpc>
              <a:buNone/>
            </a:pPr>
            <a:r>
              <a:rPr lang="en-US" sz="1000" dirty="0">
                <a:solidFill>
                  <a:srgbClr val="2A2742"/>
                </a:solidFill>
                <a:latin typeface="Arimo" pitchFamily="34" charset="0"/>
                <a:ea typeface="Arimo" pitchFamily="34" charset="-122"/>
                <a:cs typeface="Arimo" pitchFamily="34" charset="-120"/>
              </a:rPr>
              <a:t>Ré-entraînement mensuel, surveillance du Data Drift, IA explicable, segmentation par profil de compte.</a:t>
            </a:r>
            <a:endParaRPr lang="en-US" sz="1000" dirty="0"/>
          </a:p>
        </p:txBody>
      </p:sp>
      <p:pic>
        <p:nvPicPr>
          <p:cNvPr id="22" name="Image 4" descr="preencoded.png"/>
          <p:cNvPicPr>
            <a:picLocks noChangeAspect="1"/>
          </p:cNvPicPr>
          <p:nvPr/>
        </p:nvPicPr>
        <p:blipFill>
          <a:blip r:embed="rId3">
            <a:extLst>
              <a:ext uri="{96DAC541-7B7A-43D3-8B79-37D633B846F1}">
                <asvg:svgBlip xmlns="" xmlns:asvg="http://schemas.microsoft.com/office/drawing/2016/SVG/main" r:embed="rId10"/>
              </a:ext>
            </a:extLst>
          </a:blip>
          <a:stretch>
            <a:fillRect/>
          </a:stretch>
        </p:blipFill>
        <p:spPr>
          <a:xfrm>
            <a:off x="496119" y="3384203"/>
            <a:ext cx="8151763" cy="500062"/>
          </a:xfrm>
          <a:prstGeom prst="rect">
            <a:avLst/>
          </a:prstGeom>
        </p:spPr>
      </p:pic>
      <p:sp>
        <p:nvSpPr>
          <p:cNvPr id="23" name="Text 16"/>
          <p:cNvSpPr/>
          <p:nvPr/>
        </p:nvSpPr>
        <p:spPr>
          <a:xfrm>
            <a:off x="607442" y="3556099"/>
            <a:ext cx="125016" cy="156270"/>
          </a:xfrm>
          <a:prstGeom prst="rect">
            <a:avLst/>
          </a:prstGeom>
          <a:noFill/>
          <a:ln/>
        </p:spPr>
        <p:txBody>
          <a:bodyPr wrap="none" lIns="0" tIns="0" rIns="0" bIns="0" rtlCol="0" anchor="ctr"/>
          <a:lstStyle/>
          <a:p>
            <a:pPr marL="0" indent="0" algn="ctr">
              <a:lnSpc>
                <a:spcPct val="100000"/>
              </a:lnSpc>
              <a:buNone/>
            </a:pPr>
            <a:r>
              <a:rPr lang="en-US" sz="950" dirty="0">
                <a:solidFill>
                  <a:srgbClr val="2A2742"/>
                </a:solidFill>
                <a:latin typeface="Outfit ExtraBold" pitchFamily="34" charset="0"/>
                <a:ea typeface="Outfit ExtraBold" pitchFamily="34" charset="-122"/>
                <a:cs typeface="Outfit ExtraBold" pitchFamily="34" charset="-120"/>
              </a:rPr>
              <a:t>5</a:t>
            </a:r>
            <a:endParaRPr lang="en-US" sz="950" dirty="0"/>
          </a:p>
        </p:txBody>
      </p:sp>
      <p:sp>
        <p:nvSpPr>
          <p:cNvPr id="24" name="Text 17"/>
          <p:cNvSpPr/>
          <p:nvPr/>
        </p:nvSpPr>
        <p:spPr>
          <a:xfrm>
            <a:off x="894978" y="3477071"/>
            <a:ext cx="7660035" cy="130225"/>
          </a:xfrm>
          <a:prstGeom prst="rect">
            <a:avLst/>
          </a:prstGeom>
          <a:noFill/>
          <a:ln/>
        </p:spPr>
        <p:txBody>
          <a:bodyPr wrap="none" lIns="0" tIns="0" rIns="0" bIns="0" rtlCol="0" anchor="t"/>
          <a:lstStyle/>
          <a:p>
            <a:pPr marL="0" indent="0" algn="l">
              <a:lnSpc>
                <a:spcPct val="104000"/>
              </a:lnSpc>
              <a:buNone/>
            </a:pPr>
            <a:r>
              <a:rPr lang="en-US" sz="1100" dirty="0">
                <a:solidFill>
                  <a:srgbClr val="2A2742"/>
                </a:solidFill>
                <a:latin typeface="Outfit ExtraBold" pitchFamily="34" charset="0"/>
                <a:ea typeface="Outfit ExtraBold" pitchFamily="34" charset="-122"/>
                <a:cs typeface="Outfit ExtraBold" pitchFamily="34" charset="-120"/>
              </a:rPr>
              <a:t>Transition vers les données haïtiennes</a:t>
            </a:r>
            <a:endParaRPr lang="en-US" sz="1100" dirty="0"/>
          </a:p>
        </p:txBody>
      </p:sp>
      <p:sp>
        <p:nvSpPr>
          <p:cNvPr id="25" name="Text 18"/>
          <p:cNvSpPr/>
          <p:nvPr/>
        </p:nvSpPr>
        <p:spPr>
          <a:xfrm>
            <a:off x="894978" y="3640857"/>
            <a:ext cx="7660035" cy="111472"/>
          </a:xfrm>
          <a:prstGeom prst="rect">
            <a:avLst/>
          </a:prstGeom>
          <a:noFill/>
          <a:ln/>
        </p:spPr>
        <p:txBody>
          <a:bodyPr wrap="none" lIns="0" tIns="0" rIns="0" bIns="0" rtlCol="0" anchor="t"/>
          <a:lstStyle/>
          <a:p>
            <a:pPr marL="0" indent="0" algn="l">
              <a:lnSpc>
                <a:spcPct val="111000"/>
              </a:lnSpc>
              <a:buNone/>
            </a:pPr>
            <a:r>
              <a:rPr lang="en-US" sz="1050" dirty="0">
                <a:solidFill>
                  <a:srgbClr val="2A2742"/>
                </a:solidFill>
                <a:latin typeface="Arimo" pitchFamily="34" charset="0"/>
                <a:ea typeface="Arimo" pitchFamily="34" charset="-122"/>
                <a:cs typeface="Arimo" pitchFamily="34" charset="-120"/>
              </a:rPr>
              <a:t>Adapter les seuils au contexte socio-économique, convertir en HTG, valider sur données réelles, collaborer avec la BRH.</a:t>
            </a:r>
            <a:endParaRPr lang="en-US" sz="1050" dirty="0"/>
          </a:p>
        </p:txBody>
      </p:sp>
      <p:pic>
        <p:nvPicPr>
          <p:cNvPr id="26" name="Image 5" descr="preencoded.png"/>
          <p:cNvPicPr>
            <a:picLocks noChangeAspect="1"/>
          </p:cNvPicPr>
          <p:nvPr/>
        </p:nvPicPr>
        <p:blipFill>
          <a:blip r:embed="rId3">
            <a:extLst>
              <a:ext uri="{96DAC541-7B7A-43D3-8B79-37D633B846F1}">
                <asvg:svgBlip xmlns="" xmlns:asvg="http://schemas.microsoft.com/office/drawing/2016/SVG/main" r:embed="rId12"/>
              </a:ext>
            </a:extLst>
          </a:blip>
          <a:stretch>
            <a:fillRect/>
          </a:stretch>
        </p:blipFill>
        <p:spPr>
          <a:xfrm>
            <a:off x="496119" y="3940225"/>
            <a:ext cx="8151763" cy="500062"/>
          </a:xfrm>
          <a:prstGeom prst="rect">
            <a:avLst/>
          </a:prstGeom>
        </p:spPr>
      </p:pic>
      <p:sp>
        <p:nvSpPr>
          <p:cNvPr id="27" name="Text 19"/>
          <p:cNvSpPr/>
          <p:nvPr/>
        </p:nvSpPr>
        <p:spPr>
          <a:xfrm>
            <a:off x="607442" y="4112121"/>
            <a:ext cx="125016" cy="156270"/>
          </a:xfrm>
          <a:prstGeom prst="rect">
            <a:avLst/>
          </a:prstGeom>
          <a:noFill/>
          <a:ln/>
        </p:spPr>
        <p:txBody>
          <a:bodyPr wrap="none" lIns="0" tIns="0" rIns="0" bIns="0" rtlCol="0" anchor="ctr"/>
          <a:lstStyle/>
          <a:p>
            <a:pPr marL="0" indent="0" algn="ctr">
              <a:lnSpc>
                <a:spcPct val="100000"/>
              </a:lnSpc>
              <a:buNone/>
            </a:pPr>
            <a:r>
              <a:rPr lang="en-US" sz="950" dirty="0">
                <a:solidFill>
                  <a:srgbClr val="2A2742"/>
                </a:solidFill>
                <a:latin typeface="Outfit ExtraBold" pitchFamily="34" charset="0"/>
                <a:ea typeface="Outfit ExtraBold" pitchFamily="34" charset="-122"/>
                <a:cs typeface="Outfit ExtraBold" pitchFamily="34" charset="-120"/>
              </a:rPr>
              <a:t>6</a:t>
            </a:r>
            <a:endParaRPr lang="en-US" sz="950" dirty="0"/>
          </a:p>
        </p:txBody>
      </p:sp>
      <p:sp>
        <p:nvSpPr>
          <p:cNvPr id="28" name="Text 20"/>
          <p:cNvSpPr/>
          <p:nvPr/>
        </p:nvSpPr>
        <p:spPr>
          <a:xfrm>
            <a:off x="894978" y="4033093"/>
            <a:ext cx="7660035" cy="130225"/>
          </a:xfrm>
          <a:prstGeom prst="rect">
            <a:avLst/>
          </a:prstGeom>
          <a:noFill/>
          <a:ln/>
        </p:spPr>
        <p:txBody>
          <a:bodyPr wrap="none" lIns="0" tIns="0" rIns="0" bIns="0" rtlCol="0" anchor="t"/>
          <a:lstStyle/>
          <a:p>
            <a:pPr marL="0" indent="0" algn="l">
              <a:lnSpc>
                <a:spcPct val="104000"/>
              </a:lnSpc>
              <a:buNone/>
            </a:pPr>
            <a:r>
              <a:rPr lang="en-US" sz="1100" dirty="0">
                <a:solidFill>
                  <a:srgbClr val="2A2742"/>
                </a:solidFill>
                <a:latin typeface="Outfit ExtraBold" pitchFamily="34" charset="0"/>
                <a:ea typeface="Outfit ExtraBold" pitchFamily="34" charset="-122"/>
                <a:cs typeface="Outfit ExtraBold" pitchFamily="34" charset="-120"/>
              </a:rPr>
              <a:t>Perspectives d'évolution</a:t>
            </a:r>
            <a:endParaRPr lang="en-US" sz="1100" dirty="0"/>
          </a:p>
        </p:txBody>
      </p:sp>
      <p:sp>
        <p:nvSpPr>
          <p:cNvPr id="29" name="Text 21"/>
          <p:cNvSpPr/>
          <p:nvPr/>
        </p:nvSpPr>
        <p:spPr>
          <a:xfrm>
            <a:off x="894978" y="4196879"/>
            <a:ext cx="7660035" cy="111472"/>
          </a:xfrm>
          <a:prstGeom prst="rect">
            <a:avLst/>
          </a:prstGeom>
          <a:noFill/>
          <a:ln/>
        </p:spPr>
        <p:txBody>
          <a:bodyPr wrap="none" lIns="0" tIns="0" rIns="0" bIns="0" rtlCol="0" anchor="t"/>
          <a:lstStyle/>
          <a:p>
            <a:pPr marL="0" indent="0" algn="l">
              <a:lnSpc>
                <a:spcPct val="111000"/>
              </a:lnSpc>
              <a:buNone/>
            </a:pPr>
            <a:r>
              <a:rPr lang="en-US" sz="1000" dirty="0">
                <a:solidFill>
                  <a:srgbClr val="2A2742"/>
                </a:solidFill>
                <a:latin typeface="Arimo" pitchFamily="34" charset="0"/>
                <a:ea typeface="Arimo" pitchFamily="34" charset="-122"/>
                <a:cs typeface="Arimo" pitchFamily="34" charset="-120"/>
              </a:rPr>
              <a:t>Deep Learning (auto-encodeurs), validation opérationnelle avec données BRH, MLOps automatisé, alerting en streaming.</a:t>
            </a:r>
            <a:endParaRPr lang="en-US" sz="1000" dirty="0"/>
          </a:p>
        </p:txBody>
      </p:sp>
    </p:spTree>
    <p:extLst>
      <p:ext uri="{BB962C8B-B14F-4D97-AF65-F5344CB8AC3E}">
        <p14:creationId xmlns:p14="http://schemas.microsoft.com/office/powerpoint/2010/main" val="56424652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2546720" y="2250766"/>
            <a:ext cx="4050561" cy="444810"/>
          </a:xfrm>
          <a:prstGeom prst="rect">
            <a:avLst/>
          </a:prstGeom>
          <a:noFill/>
          <a:ln/>
        </p:spPr>
        <p:txBody>
          <a:bodyPr wrap="none" lIns="0" tIns="0" rIns="0" bIns="0" rtlCol="0" anchor="t"/>
          <a:lstStyle/>
          <a:p>
            <a:pPr>
              <a:lnSpc>
                <a:spcPct val="104000"/>
              </a:lnSpc>
            </a:pPr>
            <a:r>
              <a:rPr lang="en-US" sz="2050" dirty="0" smtClean="0">
                <a:solidFill>
                  <a:srgbClr val="231971"/>
                </a:solidFill>
                <a:latin typeface="Outfit ExtraBold" pitchFamily="34" charset="0"/>
                <a:ea typeface="Outfit ExtraBold" pitchFamily="34" charset="-122"/>
                <a:cs typeface="Outfit ExtraBold" pitchFamily="34" charset="-120"/>
              </a:rPr>
              <a:t>MERCI DE VOTRE ATTENTION </a:t>
            </a:r>
            <a:endParaRPr lang="en-US" sz="2050" dirty="0"/>
          </a:p>
        </p:txBody>
      </p:sp>
    </p:spTree>
    <p:extLst>
      <p:ext uri="{BB962C8B-B14F-4D97-AF65-F5344CB8AC3E}">
        <p14:creationId xmlns:p14="http://schemas.microsoft.com/office/powerpoint/2010/main" val="279556927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2275299" y="2404377"/>
            <a:ext cx="4593403" cy="334747"/>
          </a:xfrm>
          <a:prstGeom prst="rect">
            <a:avLst/>
          </a:prstGeom>
          <a:noFill/>
          <a:ln/>
        </p:spPr>
        <p:txBody>
          <a:bodyPr wrap="none" lIns="0" tIns="0" rIns="0" bIns="0" rtlCol="0" anchor="t"/>
          <a:lstStyle/>
          <a:p>
            <a:pPr>
              <a:lnSpc>
                <a:spcPct val="104000"/>
              </a:lnSpc>
            </a:pPr>
            <a:r>
              <a:rPr lang="fr-FR" sz="2050" dirty="0" smtClean="0">
                <a:solidFill>
                  <a:srgbClr val="231971"/>
                </a:solidFill>
                <a:latin typeface="Outfit ExtraBold" pitchFamily="34" charset="0"/>
                <a:ea typeface="Outfit ExtraBold" pitchFamily="34" charset="-122"/>
                <a:cs typeface="Outfit ExtraBold" pitchFamily="34" charset="-120"/>
              </a:rPr>
              <a:t>DÉMONSTRATION DU PROTOTYPE</a:t>
            </a:r>
            <a:endParaRPr lang="fr-FR" sz="2050" dirty="0">
              <a:solidFill>
                <a:srgbClr val="231971"/>
              </a:solidFill>
              <a:latin typeface="Outfit ExtraBold" pitchFamily="34" charset="0"/>
              <a:ea typeface="Outfit ExtraBold" pitchFamily="34" charset="-122"/>
              <a:cs typeface="Outfit ExtraBold" pitchFamily="34" charset="-120"/>
            </a:endParaRPr>
          </a:p>
        </p:txBody>
      </p:sp>
    </p:spTree>
    <p:extLst>
      <p:ext uri="{BB962C8B-B14F-4D97-AF65-F5344CB8AC3E}">
        <p14:creationId xmlns:p14="http://schemas.microsoft.com/office/powerpoint/2010/main" val="245854053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104429" y="2409789"/>
            <a:ext cx="2935142" cy="323922"/>
          </a:xfrm>
          <a:prstGeom prst="rect">
            <a:avLst/>
          </a:prstGeom>
          <a:noFill/>
          <a:ln/>
        </p:spPr>
        <p:txBody>
          <a:bodyPr wrap="none" lIns="0" tIns="0" rIns="0" bIns="0" rtlCol="0" anchor="t"/>
          <a:lstStyle/>
          <a:p>
            <a:pPr>
              <a:lnSpc>
                <a:spcPct val="104000"/>
              </a:lnSpc>
            </a:pPr>
            <a:r>
              <a:rPr lang="fr-FR" sz="2050" dirty="0" smtClean="0">
                <a:solidFill>
                  <a:srgbClr val="231971"/>
                </a:solidFill>
                <a:latin typeface="Outfit ExtraBold" pitchFamily="34" charset="0"/>
                <a:ea typeface="Outfit ExtraBold" pitchFamily="34" charset="-122"/>
                <a:cs typeface="Outfit ExtraBold" pitchFamily="34" charset="-120"/>
              </a:rPr>
              <a:t>QUESTIONS ET RÉPONSES</a:t>
            </a:r>
            <a:endParaRPr lang="fr-FR" sz="2050" dirty="0">
              <a:solidFill>
                <a:srgbClr val="231971"/>
              </a:solidFill>
              <a:latin typeface="Outfit ExtraBold" pitchFamily="34" charset="0"/>
              <a:ea typeface="Outfit ExtraBold" pitchFamily="34" charset="-122"/>
              <a:cs typeface="Outfit ExtraBold" pitchFamily="34" charset="-120"/>
            </a:endParaRPr>
          </a:p>
        </p:txBody>
      </p:sp>
    </p:spTree>
    <p:extLst>
      <p:ext uri="{BB962C8B-B14F-4D97-AF65-F5344CB8AC3E}">
        <p14:creationId xmlns:p14="http://schemas.microsoft.com/office/powerpoint/2010/main" val="3045590024"/>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155</TotalTime>
  <Words>1126</Words>
  <Application>Microsoft Office PowerPoint</Application>
  <PresentationFormat>On-screen Show (16:9)</PresentationFormat>
  <Paragraphs>151</Paragraphs>
  <Slides>17</Slides>
  <Notes>17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Arimo</vt:lpstr>
      <vt:lpstr>Arial</vt:lpstr>
      <vt:lpstr>Outfit ExtraBold</vt:lpstr>
      <vt:lpstr>Calibri</vt:lpstr>
      <vt:lpstr>Arimo Bold</vt:lpstr>
      <vt:lpstr>Outfit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Blemy Joseph</dc:creator>
  <cp:lastModifiedBy>Microsoft account</cp:lastModifiedBy>
  <cp:revision>60</cp:revision>
  <dcterms:created xsi:type="dcterms:W3CDTF">2026-07-23T18:07:55Z</dcterms:created>
  <dcterms:modified xsi:type="dcterms:W3CDTF">2026-07-25T04:53:11Z</dcterms:modified>
</cp:coreProperties>
</file>