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67" r:id="rId4"/>
    <p:sldId id="268" r:id="rId5"/>
    <p:sldId id="270" r:id="rId6"/>
    <p:sldId id="269" r:id="rId7"/>
    <p:sldId id="259" r:id="rId8"/>
    <p:sldId id="271" r:id="rId9"/>
    <p:sldId id="272" r:id="rId10"/>
    <p:sldId id="273" r:id="rId11"/>
    <p:sldId id="274" r:id="rId12"/>
    <p:sldId id="263" r:id="rId13"/>
    <p:sldId id="275" r:id="rId14"/>
    <p:sldId id="280" r:id="rId15"/>
    <p:sldId id="276" r:id="rId16"/>
    <p:sldId id="277" r:id="rId17"/>
    <p:sldId id="278" r:id="rId18"/>
    <p:sldId id="279" r:id="rId19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Arimo" panose="020B0604020202020204" charset="0"/>
      <p:regular r:id="rId25"/>
    </p:embeddedFont>
    <p:embeddedFont>
      <p:font typeface="Arimo Bold" panose="020B0604020202020204" charset="0"/>
      <p:regular r:id="rId26"/>
    </p:embeddedFont>
    <p:embeddedFont>
      <p:font typeface="Outfit Light" panose="020B0604020202020204" charset="0"/>
      <p:regular r:id="rId27"/>
    </p:embeddedFont>
    <p:embeddedFont>
      <p:font typeface="Outfit ExtraBold" panose="020B0604020202020204" charset="0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D0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226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68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84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30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17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38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59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53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54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71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54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72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74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01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66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0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5.svg"/><Relationship Id="rId5" Type="http://schemas.openxmlformats.org/officeDocument/2006/relationships/image" Target="../media/image5.png"/><Relationship Id="rId4" Type="http://schemas.openxmlformats.org/officeDocument/2006/relationships/image" Target="../media/image-3-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5" Type="http://schemas.openxmlformats.org/officeDocument/2006/relationships/image" Target="../media/image8.png"/><Relationship Id="rId4" Type="http://schemas.openxmlformats.org/officeDocument/2006/relationships/image" Target="../media/image-4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2.svg"/><Relationship Id="rId3" Type="http://schemas.openxmlformats.org/officeDocument/2006/relationships/image" Target="../media/image11.png"/><Relationship Id="rId12" Type="http://schemas.openxmlformats.org/officeDocument/2006/relationships/image" Target="../media/image-10-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0-2.svg"/><Relationship Id="rId5" Type="http://schemas.openxmlformats.org/officeDocument/2006/relationships/image" Target="../media/image-10-2.svg"/><Relationship Id="rId10" Type="http://schemas.openxmlformats.org/officeDocument/2006/relationships/image" Target="../media/image-10-2.svg"/><Relationship Id="rId4" Type="http://schemas.openxmlformats.org/officeDocument/2006/relationships/image" Target="../media/image-10-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66479"/>
            <a:ext cx="4722763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algn="just">
              <a:lnSpc>
                <a:spcPct val="104000"/>
              </a:lnSpc>
            </a:pPr>
            <a:r>
              <a:rPr lang="en-US" sz="2800" dirty="0" err="1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Système</a:t>
            </a:r>
            <a:r>
              <a:rPr lang="en-US" sz="2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Intelligent de </a:t>
            </a:r>
            <a:r>
              <a:rPr lang="en-US" sz="2800" dirty="0" err="1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Détection</a:t>
            </a:r>
            <a:r>
              <a:rPr lang="en-US" sz="2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</a:t>
            </a:r>
            <a:r>
              <a:rPr lang="en-US" sz="2800" dirty="0" err="1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d'Anomalies</a:t>
            </a:r>
            <a:r>
              <a:rPr lang="en-US" sz="2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</a:t>
            </a:r>
            <a:r>
              <a:rPr lang="en-US" sz="2800" dirty="0" err="1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dans</a:t>
            </a:r>
            <a:r>
              <a:rPr lang="en-US" sz="2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les Services Financiers </a:t>
            </a:r>
            <a:r>
              <a:rPr lang="en-US" sz="2800" dirty="0" err="1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Numériques</a:t>
            </a:r>
            <a:r>
              <a:rPr lang="en-US" sz="2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</a:t>
            </a:r>
            <a:r>
              <a:rPr lang="en-US" sz="2800" dirty="0" err="1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</a:t>
            </a:r>
            <a:r>
              <a:rPr lang="en-US" sz="2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</a:t>
            </a:r>
            <a:r>
              <a:rPr lang="en-US" sz="2800" dirty="0" err="1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Haïti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25119" y="259834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lang="en-US" sz="1200" dirty="0" err="1" smtClean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Projet</a:t>
            </a:r>
            <a:r>
              <a:rPr lang="en-US" sz="1200" dirty="0" smtClean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de Fin </a:t>
            </a:r>
            <a:r>
              <a:rPr lang="en-US" sz="1200" dirty="0" err="1" smtClean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d'Études</a:t>
            </a:r>
            <a:r>
              <a:rPr lang="en-US" sz="120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  <a:r>
              <a:rPr lang="en-US" sz="1200" dirty="0" smtClean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</a:t>
            </a:r>
            <a:r>
              <a:rPr lang="fr-FR" sz="1200" dirty="0" smtClean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Science </a:t>
            </a:r>
            <a:r>
              <a:rPr lang="fr-FR" sz="120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des Données, Intelligence Artificielle et Mathématiques pour l'IA</a:t>
            </a:r>
            <a:endParaRPr lang="en-US" sz="120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468059" y="3531483"/>
            <a:ext cx="2682850" cy="215354"/>
          </a:xfrm>
          <a:prstGeom prst="roundRect">
            <a:avLst>
              <a:gd name="adj" fmla="val 22119"/>
            </a:avLst>
          </a:prstGeom>
          <a:solidFill>
            <a:srgbClr val="D7D2F9"/>
          </a:solidFill>
          <a:ln/>
        </p:spPr>
      </p:sp>
      <p:sp>
        <p:nvSpPr>
          <p:cNvPr id="6" name="Text 3"/>
          <p:cNvSpPr/>
          <p:nvPr/>
        </p:nvSpPr>
        <p:spPr>
          <a:xfrm>
            <a:off x="4624554" y="3573973"/>
            <a:ext cx="238585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UEH - FACULTÉ DES SCIENCES | FRST / BRH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221751" y="3531483"/>
            <a:ext cx="892597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5E4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03656" y="3577121"/>
            <a:ext cx="751015" cy="153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 smtClean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JUILLET </a:t>
            </a:r>
            <a:r>
              <a:rPr lang="en-US" sz="8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2026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809" y="4391553"/>
            <a:ext cx="2697071" cy="284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Encadrant : Prof. Evens </a:t>
            </a:r>
            <a:r>
              <a:rPr lang="en-US" sz="12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Toussaint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2434" y="401389"/>
            <a:ext cx="1672816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NOTRE ÉQUIPE</a:t>
            </a:r>
            <a:endParaRPr lang="en-US" sz="2050" dirty="0"/>
          </a:p>
        </p:txBody>
      </p:sp>
      <p:sp>
        <p:nvSpPr>
          <p:cNvPr id="5" name="Shape 2"/>
          <p:cNvSpPr/>
          <p:nvPr/>
        </p:nvSpPr>
        <p:spPr>
          <a:xfrm>
            <a:off x="169262" y="2301851"/>
            <a:ext cx="2684487" cy="616669"/>
          </a:xfrm>
          <a:prstGeom prst="roundRect">
            <a:avLst>
              <a:gd name="adj" fmla="val 724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9824" y="2527139"/>
            <a:ext cx="9833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Blémy Joseph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7742" y="2273982"/>
            <a:ext cx="2684487" cy="616669"/>
          </a:xfrm>
          <a:prstGeom prst="roundRect">
            <a:avLst>
              <a:gd name="adj" fmla="val 724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51009" y="2468054"/>
            <a:ext cx="87795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Jonas Clocin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26222" y="2264524"/>
            <a:ext cx="2684487" cy="616669"/>
          </a:xfrm>
          <a:prstGeom prst="roundRect">
            <a:avLst>
              <a:gd name="adj" fmla="val 724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65659" y="2473708"/>
            <a:ext cx="1205613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Martin François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3470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34260" y="790501"/>
            <a:ext cx="875481" cy="306779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6247" y="827709"/>
            <a:ext cx="511507" cy="26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 smtClean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</a:t>
            </a:r>
            <a:endParaRPr lang="en-US" sz="1400" b="1" dirty="0"/>
          </a:p>
        </p:txBody>
      </p:sp>
      <p:sp>
        <p:nvSpPr>
          <p:cNvPr id="6" name="Text 3"/>
          <p:cNvSpPr/>
          <p:nvPr/>
        </p:nvSpPr>
        <p:spPr>
          <a:xfrm>
            <a:off x="1527818" y="2788745"/>
            <a:ext cx="6521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Partie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2" y="3062064"/>
            <a:ext cx="2469282" cy="96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Exposé théorique et technique : contexte, solution 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proposée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données et défis, résultats, limites et recommandations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60749" y="2793802"/>
            <a:ext cx="6224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Partie 2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28620" y="3062064"/>
            <a:ext cx="188668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Démonstration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du prototype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2074649"/>
            <a:ext cx="2717229" cy="4961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63991" y="2783688"/>
            <a:ext cx="6006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Partie 3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509270" y="3062064"/>
            <a:ext cx="15101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Questions et réponses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349" y="2074649"/>
            <a:ext cx="2717229" cy="496119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63" y="2074649"/>
            <a:ext cx="2717229" cy="49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1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6119" y="740474"/>
            <a:ext cx="2096006" cy="428367"/>
          </a:xfrm>
          <a:prstGeom prst="roundRect">
            <a:avLst>
              <a:gd name="adj" fmla="val 22116"/>
            </a:avLst>
          </a:prstGeom>
          <a:solidFill>
            <a:srgbClr val="D7D2F9"/>
          </a:solidFill>
          <a:ln/>
        </p:spPr>
      </p:sp>
      <p:sp>
        <p:nvSpPr>
          <p:cNvPr id="4" name="Text 1"/>
          <p:cNvSpPr/>
          <p:nvPr/>
        </p:nvSpPr>
        <p:spPr>
          <a:xfrm>
            <a:off x="568511" y="883893"/>
            <a:ext cx="1951221" cy="32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INTRODUCTION</a:t>
            </a:r>
            <a:r>
              <a:rPr lang="en-US" sz="900" b="1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CONTEXTE</a:t>
            </a:r>
            <a:endParaRPr lang="en-US" sz="1100" b="1" dirty="0"/>
          </a:p>
        </p:txBody>
      </p:sp>
      <p:sp>
        <p:nvSpPr>
          <p:cNvPr id="6" name="Text 3"/>
          <p:cNvSpPr/>
          <p:nvPr/>
        </p:nvSpPr>
        <p:spPr>
          <a:xfrm>
            <a:off x="527924" y="1333531"/>
            <a:ext cx="4722763" cy="1178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32000"/>
              </a:lnSpc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L'expansion des services financiers numériques en Haïti facilite l'accès aux applications mobiles et aux transferts, mais expose les institutions à une hausse inquiétante des fraudes transactionnelles. En 2025, la</a:t>
            </a: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Banque de la République d'Haïti (BRH)</a:t>
            </a: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formellement rappelé aux établissements leurs obligations de vigilance. Le </a:t>
            </a:r>
            <a:r>
              <a:rPr lang="en-US" sz="11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problème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critique : 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32174"/>
            <a:ext cx="4722763" cy="9231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9595" y="2768501"/>
            <a:ext cx="4392960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Absence de surveillance automatisée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9595" y="3031331"/>
            <a:ext cx="439296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2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majorité des banques locales ne disposent d'aucun système automatisé pour surveiller les transactions en temps réel.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675534"/>
            <a:ext cx="4722763" cy="11170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9595" y="3811860"/>
            <a:ext cx="4392960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Méthodes traditionnelles inopérantes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89595" y="4074691"/>
            <a:ext cx="4392960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2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Avec un taux de fraude dans les transactions bancaires et une absence totale d'historique de fraudes étiquetées localement, les méthodes classiques de détection sont inefficaces.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 rotWithShape="1">
          <a:blip r:embed="rId7"/>
          <a:srcRect l="18609" t="45323" r="35478" b="35613"/>
          <a:stretch/>
        </p:blipFill>
        <p:spPr>
          <a:xfrm>
            <a:off x="6353092" y="1278164"/>
            <a:ext cx="2790908" cy="279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7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3040" y="1401514"/>
            <a:ext cx="2317921" cy="38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5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PROBLÉMATIQUE</a:t>
            </a:r>
            <a:endParaRPr lang="en-US" sz="2050" dirty="0"/>
          </a:p>
        </p:txBody>
      </p:sp>
      <p:sp>
        <p:nvSpPr>
          <p:cNvPr id="8" name="Shape 5"/>
          <p:cNvSpPr/>
          <p:nvPr/>
        </p:nvSpPr>
        <p:spPr>
          <a:xfrm>
            <a:off x="286246" y="2099144"/>
            <a:ext cx="8563555" cy="1057524"/>
          </a:xfrm>
          <a:prstGeom prst="roundRect">
            <a:avLst>
              <a:gd name="adj" fmla="val 724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389614" y="2386204"/>
            <a:ext cx="8340917" cy="587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12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Comment concilier une approche d'audit descriptive rapide (Business Intelligence) avec des algorithmes d'apprentissage non supervisé </a:t>
            </a:r>
            <a:r>
              <a:rPr lang="fr-FR" sz="1200" b="1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pour </a:t>
            </a:r>
            <a:r>
              <a:rPr lang="fr-FR" sz="12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minimiser les pertes financières tout en évitant de bloquer les clients légitimes ?</a:t>
            </a:r>
          </a:p>
        </p:txBody>
      </p:sp>
    </p:spTree>
    <p:extLst>
      <p:ext uri="{BB962C8B-B14F-4D97-AF65-F5344CB8AC3E}">
        <p14:creationId xmlns:p14="http://schemas.microsoft.com/office/powerpoint/2010/main" val="51471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115" y="304938"/>
            <a:ext cx="1978983" cy="395378"/>
          </a:xfrm>
          <a:prstGeom prst="roundRect">
            <a:avLst>
              <a:gd name="adj" fmla="val 22104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624855" y="413758"/>
            <a:ext cx="1817243" cy="23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SOLUTION PROPOSÉE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496119" y="80270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MACHINE LEARNING NON SUPERVISÉ : NOTRE APPROCHE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6119" y="1259421"/>
            <a:ext cx="8151763" cy="101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Notre équipe a conçu une preuve de concept reposant sur le </a:t>
            </a:r>
            <a:r>
              <a:rPr lang="en-US" sz="1200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Machine Learning non supervi</a:t>
            </a: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sé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Sans nécessiter de données de fraudes préexistantes, le modèle apprend de façon autonome le comportement habituel des clients (montants, heures, canaux). L'architecture combine </a:t>
            </a:r>
            <a:r>
              <a:rPr lang="en-US" sz="1200" dirty="0" err="1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deux</a:t>
            </a:r>
            <a:r>
              <a:rPr lang="en-US" sz="12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algorithmes robustes, validés sur </a:t>
            </a:r>
            <a:r>
              <a:rPr lang="en-US" sz="1200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550 000 transactions bancaires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et alimente un tableau de bord Power BI.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437209"/>
            <a:ext cx="2634555" cy="1815629"/>
          </a:xfrm>
          <a:prstGeom prst="roundRect">
            <a:avLst>
              <a:gd name="adj" fmla="val 287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55" y="2565946"/>
            <a:ext cx="372070" cy="372070"/>
          </a:xfrm>
          <a:prstGeom prst="ellipse">
            <a:avLst/>
          </a:prstGeom>
          <a:solidFill>
            <a:srgbClr val="5E4CE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74" y="2668191"/>
            <a:ext cx="167432" cy="167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4855" y="3061990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4855" y="3330253"/>
            <a:ext cx="23770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Isole les </a:t>
            </a:r>
            <a:r>
              <a:rPr lang="en-US" sz="95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anomalies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54648" y="2437209"/>
            <a:ext cx="2634630" cy="1815629"/>
          </a:xfrm>
          <a:prstGeom prst="roundRect">
            <a:avLst>
              <a:gd name="adj" fmla="val 287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384" y="2565946"/>
            <a:ext cx="372070" cy="372070"/>
          </a:xfrm>
          <a:prstGeom prst="ellipse">
            <a:avLst/>
          </a:prstGeom>
          <a:solidFill>
            <a:srgbClr val="5E4CE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5704" y="2668191"/>
            <a:ext cx="167432" cy="1674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384" y="3061990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DBSCAN + AFDM 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384" y="3330253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Approche par densité géométrique pour l'identification du bruit et validation croisée.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13252" y="2437209"/>
            <a:ext cx="2634555" cy="1815629"/>
          </a:xfrm>
          <a:prstGeom prst="roundRect">
            <a:avLst>
              <a:gd name="adj" fmla="val 287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41988" y="2565946"/>
            <a:ext cx="372070" cy="372070"/>
          </a:xfrm>
          <a:prstGeom prst="ellipse">
            <a:avLst/>
          </a:prstGeom>
          <a:solidFill>
            <a:srgbClr val="5E4CE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4307" y="2668191"/>
            <a:ext cx="167432" cy="1674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1988" y="3061990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smtClean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Power </a:t>
            </a: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BI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41988" y="3330253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Classement des anomalies selon 3 niveaux de risque (Faible, Moyen, Élevé) et visualisation interactive des indicateurs.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72615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319" y="692909"/>
            <a:ext cx="8181156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JEU DE DONNÉES - INDIAN BANKING TRANSACTIONS DATASET 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978649" y="2535362"/>
            <a:ext cx="267392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550 000 </a:t>
            </a:r>
            <a:r>
              <a:rPr lang="en-US" sz="1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transactions</a:t>
            </a: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</a:t>
            </a:r>
            <a:r>
              <a:rPr lang="en-US" sz="11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- </a:t>
            </a: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2019 à 2024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78649" y="2795325"/>
            <a:ext cx="2673921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 l'absence de données bancaires haïtiennes publiques, le projet utilise un jeu de données proxy. </a:t>
            </a:r>
            <a:endParaRPr lang="en-US" sz="1050" b="1" dirty="0"/>
          </a:p>
        </p:txBody>
      </p:sp>
      <p:sp>
        <p:nvSpPr>
          <p:cNvPr id="18" name="Rectangle 17"/>
          <p:cNvSpPr/>
          <p:nvPr/>
        </p:nvSpPr>
        <p:spPr>
          <a:xfrm>
            <a:off x="496119" y="1285874"/>
            <a:ext cx="5114106" cy="353377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94922"/>
            <a:ext cx="1658684" cy="234164"/>
          </a:xfrm>
          <a:prstGeom prst="roundRect">
            <a:avLst>
              <a:gd name="adj" fmla="val 22104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932128"/>
            <a:ext cx="1671626" cy="26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DONNÉES </a:t>
            </a:r>
            <a:r>
              <a:rPr lang="en-US" sz="1200" b="1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 </a:t>
            </a:r>
            <a:r>
              <a:rPr lang="en-US" sz="12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DÉFIS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496119" y="141134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STRATÉGIE DATASET PROXY : INDIAN BANKING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2096244"/>
            <a:ext cx="4141324" cy="2300827"/>
          </a:xfrm>
          <a:prstGeom prst="roundRect">
            <a:avLst>
              <a:gd name="adj" fmla="val 5067"/>
            </a:avLst>
          </a:prstGeom>
          <a:solidFill>
            <a:srgbClr val="5E4CE6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220218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Obstacles rencontrés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538040"/>
            <a:ext cx="3855244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just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Secret bancaire BRH</a:t>
            </a:r>
            <a:r>
              <a:rPr lang="en-US" sz="12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réglementations rigoureuses sur la confidentialité des données</a:t>
            </a:r>
            <a:endParaRPr lang="en-US" sz="1200" dirty="0"/>
          </a:p>
          <a:p>
            <a:pPr marL="193040" indent="-193040" algn="just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Silence administratif</a:t>
            </a:r>
            <a:r>
              <a:rPr lang="en-US" sz="12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demande officielle d'accompagnement sans réponse, absence de protocoles de partage</a:t>
            </a:r>
            <a:endParaRPr lang="en-US" sz="1200" dirty="0"/>
          </a:p>
          <a:p>
            <a:pPr marL="193040" indent="-193040" algn="just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Aucun dépôt public</a:t>
            </a:r>
            <a:r>
              <a:rPr lang="en-US" sz="12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aucun historique de transactions disponible pour le contexte haïtien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22021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</a:t>
            </a:r>
            <a:r>
              <a:rPr lang="en-US" sz="1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Proxy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28046" y="2538040"/>
            <a:ext cx="3924598" cy="1358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Utilisation du </a:t>
            </a: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Indian Banking Transactions Dataset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(Kaggle, 2019–2024) : 550 000 transactions, diversité opérationnelle (dépôts, retraits, virements), multi-canaux (guichets, ATM, web, mobile). Pipeline ETL transposable aux données locales haïtiennes.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9582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587127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PRÉPARATION ET ANALYSE EXPLORATOIRE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1418630"/>
            <a:ext cx="402066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Identifiants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6119" y="1635100"/>
            <a:ext cx="402066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client_id, </a:t>
            </a: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transaction_id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27141" y="1418630"/>
            <a:ext cx="402074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Métriques financières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27141" y="1635100"/>
            <a:ext cx="4020741" cy="252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transaction_amount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current_balance, loan_type, credit_score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2338090"/>
            <a:ext cx="402066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Contexte spatio-temporel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96119" y="2554560"/>
            <a:ext cx="4020666" cy="25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location, channel (Mobile, Web, API, Agence), timestamp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627141" y="2338090"/>
            <a:ext cx="402074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Profilage &amp; Risque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27141" y="2554560"/>
            <a:ext cx="402074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kyc_status, </a:t>
            </a:r>
            <a:r>
              <a:rPr lang="en-US" sz="11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is_fraud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taux effectif : </a:t>
            </a: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0,89 %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96119" y="2896567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Préparation des données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96119" y="3148310"/>
            <a:ext cx="3948261" cy="105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Imputation catégorielle de </a:t>
            </a:r>
            <a:r>
              <a:rPr lang="en-US" sz="11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loan_type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par "Unknown". Feature engineering : ratio </a:t>
            </a: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impact_solde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(montant/solde courant) et indicateur </a:t>
            </a: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pression_dette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(prêts/avoirs). Réduction de dimension par </a:t>
            </a:r>
            <a:r>
              <a:rPr lang="en-US" sz="1100" b="1" dirty="0" smtClean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FAMD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704383" y="2896567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10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CANAUX PRIORITAIRES</a:t>
            </a:r>
            <a:endParaRPr lang="fr-FR" sz="1050" dirty="0"/>
          </a:p>
        </p:txBody>
      </p:sp>
      <p:sp>
        <p:nvSpPr>
          <p:cNvPr id="20" name="Shape 14"/>
          <p:cNvSpPr/>
          <p:nvPr/>
        </p:nvSpPr>
        <p:spPr>
          <a:xfrm>
            <a:off x="4704383" y="3159398"/>
            <a:ext cx="3948261" cy="1103412"/>
          </a:xfrm>
          <a:prstGeom prst="roundRect">
            <a:avLst>
              <a:gd name="adj" fmla="val 398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704383" y="3436441"/>
            <a:ext cx="3948261" cy="65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4704383" y="3711104"/>
            <a:ext cx="3948261" cy="65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4704383" y="3985766"/>
            <a:ext cx="3948261" cy="65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4814292" y="3221906"/>
            <a:ext cx="156053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Canal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155590" y="3221906"/>
            <a:ext cx="156053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Volume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814292" y="3496568"/>
            <a:ext cx="156053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155590" y="3496568"/>
            <a:ext cx="156053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37,4 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%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814292" y="3771230"/>
            <a:ext cx="156053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Web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155590" y="3771230"/>
            <a:ext cx="156053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22 %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814292" y="4045893"/>
            <a:ext cx="156053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API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155590" y="4045893"/>
            <a:ext cx="156053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7 %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704383" y="4362152"/>
            <a:ext cx="3948261" cy="620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Les interfaces distantes automatisées (API, Web) constituent les </a:t>
            </a: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vecteurs d'attaque prioritaires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7091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59099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MODÉLISATION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288554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Paramètres </a:t>
            </a:r>
            <a:r>
              <a:rPr lang="en-US" sz="1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clés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606376"/>
            <a:ext cx="3924598" cy="15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Isolation Forest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</a:t>
            </a:r>
            <a:r>
              <a:rPr lang="en-US" sz="1100" dirty="0" err="1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n_estimators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contamination,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seuil de </a:t>
            </a:r>
            <a:r>
              <a:rPr lang="en-US" sz="11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décision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dirty="0" err="1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calibré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Isole les anomalies par partitions aléatoires successives.</a:t>
            </a:r>
            <a:endParaRPr lang="en-US" sz="1100" dirty="0"/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DBSCAN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eps, </a:t>
            </a:r>
            <a:r>
              <a:rPr lang="en-US" sz="1100" dirty="0" err="1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min_samples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Approche par densité géométrique, 38 258 anomalies potentielles détectées pour validation croisée.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3939" y="197282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Évaluation</a:t>
            </a:r>
            <a:r>
              <a:rPr lang="en-US" sz="1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comparative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119" y="3561011"/>
            <a:ext cx="2613868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 smtClean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+85</a:t>
            </a: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96119" y="4125367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Fraudes détectées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119" y="4393629"/>
            <a:ext cx="2613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Taux de rappel effectif sur le jeu de validation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3939" y="3561011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033939" y="4125367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Niveaux de risque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3939" y="4393629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Faible, Moyen, </a:t>
            </a:r>
            <a:r>
              <a:rPr lang="en-US" sz="11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Élevé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pour prioriser les enquêtes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6603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2519772" y="563166"/>
            <a:ext cx="4104456" cy="379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OPPORTUNITÉS </a:t>
            </a:r>
            <a:r>
              <a:rPr lang="en-US" sz="21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ET </a:t>
            </a:r>
            <a:r>
              <a:rPr lang="en-US" sz="2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BÉNÉFICES</a:t>
            </a:r>
          </a:p>
        </p:txBody>
      </p:sp>
      <p:sp>
        <p:nvSpPr>
          <p:cNvPr id="6" name="Shape 3"/>
          <p:cNvSpPr/>
          <p:nvPr/>
        </p:nvSpPr>
        <p:spPr>
          <a:xfrm>
            <a:off x="2239194" y="1383953"/>
            <a:ext cx="4722763" cy="778594"/>
          </a:xfrm>
          <a:prstGeom prst="roundRect">
            <a:avLst>
              <a:gd name="adj" fmla="val 585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52452" y="1497211"/>
            <a:ext cx="44962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Inclusion financière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52452" y="1723653"/>
            <a:ext cx="449624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 système sécurisé encouragerait les populations non bancarisées à adopter les services numériques, contribuant à la réduction de la pauvreté.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48719" y="2257499"/>
            <a:ext cx="4722763" cy="778594"/>
          </a:xfrm>
          <a:prstGeom prst="roundRect">
            <a:avLst>
              <a:gd name="adj" fmla="val 585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52452" y="2370758"/>
            <a:ext cx="44962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Différenciation concurrentielle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52452" y="2597200"/>
            <a:ext cx="449624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Les banques sécurisées gagneront des parts de marché et attireront les investissements étrangers rassurés par un système bancaire fiable.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39194" y="3131046"/>
            <a:ext cx="4722763" cy="778594"/>
          </a:xfrm>
          <a:prstGeom prst="roundRect">
            <a:avLst>
              <a:gd name="adj" fmla="val 585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52452" y="3244304"/>
            <a:ext cx="44962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Emplois qualifiés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52452" y="3470746"/>
            <a:ext cx="449624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demande en data scientists, analystes et experts cybersécurité stimulera le développement des compétences locales et retiendra les talents.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39194" y="4004593"/>
            <a:ext cx="4722763" cy="778594"/>
          </a:xfrm>
          <a:prstGeom prst="roundRect">
            <a:avLst>
              <a:gd name="adj" fmla="val 585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52452" y="4117851"/>
            <a:ext cx="44962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Rayonnement régional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52452" y="4344293"/>
            <a:ext cx="449624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solution pourra être répliquée dans d'autres pays de la région CARICOM, renforçant le rayonnement international d'Haïti.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88012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55155" y="401092"/>
            <a:ext cx="443369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FONCTIONNALITÉS ET IMPACTS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3865903" y="1283940"/>
            <a:ext cx="141219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Scoring temps réel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728867" y="1514401"/>
            <a:ext cx="3686267" cy="242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Scoring automatisé en temps </a:t>
            </a:r>
            <a:r>
              <a:rPr lang="en-US" sz="11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réel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Faible / Moyen / </a:t>
            </a:r>
            <a:r>
              <a:rPr lang="fr-FR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Elevé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3627364" y="2251695"/>
            <a:ext cx="1889272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Tableau de bord Power BI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006378" y="2482155"/>
            <a:ext cx="3131245" cy="229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Volume transactionnel, taux d'anomalie par </a:t>
            </a:r>
            <a:r>
              <a:rPr lang="en-US" sz="11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canal.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3794341" y="3196638"/>
            <a:ext cx="1555318" cy="230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Réduction des pertes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798564" y="3427100"/>
            <a:ext cx="5546872" cy="254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Détection précoce, allègement de la charge d'audit, conformité renforcée aux directives BRH.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575072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LIMITES </a:t>
            </a:r>
            <a:r>
              <a:rPr lang="en-US" sz="225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ET </a:t>
            </a: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ATTÉNUATION</a:t>
            </a:r>
          </a:p>
        </p:txBody>
      </p:sp>
      <p:sp>
        <p:nvSpPr>
          <p:cNvPr id="5" name="Text 3"/>
          <p:cNvSpPr/>
          <p:nvPr/>
        </p:nvSpPr>
        <p:spPr>
          <a:xfrm>
            <a:off x="496119" y="1195908"/>
            <a:ext cx="393642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Limites liées aux données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479947"/>
            <a:ext cx="3936429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82880" indent="-182880" algn="just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Absence de données haïtiennes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le modèle proxy indien peut ne pas détecter les anomalies spécifiques au contexte local</a:t>
            </a:r>
            <a:endParaRPr lang="en-US" sz="1000" dirty="0"/>
          </a:p>
          <a:p>
            <a:pPr marL="182880" indent="-182880" algn="just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Devise différente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données en INR, pas en HTG </a:t>
            </a:r>
            <a:r>
              <a:rPr lang="en-US" sz="10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- 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les seuils doivent être ajustés</a:t>
            </a:r>
            <a:endParaRPr lang="en-US" sz="1000" dirty="0"/>
          </a:p>
          <a:p>
            <a:pPr marL="182880" indent="-182880" algn="just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Données synthétiques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absence de cycles humains naturels (activité constante sur 24h)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16214" y="1195908"/>
            <a:ext cx="393642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Limites méthodologiques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16214" y="1479947"/>
            <a:ext cx="3936429" cy="125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82880" indent="-182880" algn="just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Toute anomalie n'est pas une fraude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nécessité de validation humaine systématique</a:t>
            </a:r>
            <a:endParaRPr lang="en-US" sz="1000" dirty="0"/>
          </a:p>
          <a:p>
            <a:pPr marL="182880" indent="-182880" algn="just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Évolution du modèle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sans ré-entraînement, le modèle devient obsolète</a:t>
            </a:r>
            <a:endParaRPr lang="en-US" sz="1000" dirty="0"/>
          </a:p>
          <a:p>
            <a:pPr marL="182880" indent="-182880" algn="just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Surveillance continue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la détection peut avoir un retard sans système temps réel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2803624"/>
            <a:ext cx="815176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Stratégies d'atténuation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119" y="3140422"/>
            <a:ext cx="2286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6119" y="3320430"/>
            <a:ext cx="4023196" cy="14288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406155"/>
            <a:ext cx="40231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Validation humaine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119" y="3648075"/>
            <a:ext cx="4023196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Processus de validation des alertes par les analystes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4685" y="3140422"/>
            <a:ext cx="2286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4685" y="3320430"/>
            <a:ext cx="4023196" cy="14288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6" name="Text 14"/>
          <p:cNvSpPr/>
          <p:nvPr/>
        </p:nvSpPr>
        <p:spPr>
          <a:xfrm>
            <a:off x="4624685" y="3406155"/>
            <a:ext cx="40231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Ré-entraînement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4685" y="3648075"/>
            <a:ext cx="4023196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Planification mensuelle ou trimestrielle du modèle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4015011"/>
            <a:ext cx="2286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4195018"/>
            <a:ext cx="4023196" cy="14288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4280743"/>
            <a:ext cx="40231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Adaptation locale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119" y="4522663"/>
            <a:ext cx="4023196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Ajustement des seuils lorsque des données haïtiennes seront disponibles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173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14044" y="1587022"/>
            <a:ext cx="1715912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CONCLUSION</a:t>
            </a:r>
            <a:endParaRPr lang="en-US" sz="2000" dirty="0">
              <a:solidFill>
                <a:srgbClr val="231971"/>
              </a:solidFill>
              <a:latin typeface="Outfit ExtraBold" pitchFamily="34" charset="0"/>
              <a:ea typeface="Outfit ExtraBold" pitchFamily="34" charset="-122"/>
              <a:cs typeface="Outfit Extra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076190"/>
            <a:ext cx="8151763" cy="82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 projet a permis de concevoir un système intelligent de détection d'anomalies à double niveau : un niveau descriptif (Power BI, audit rapide par Z-Score) et un niveau </a:t>
            </a:r>
            <a:r>
              <a:rPr lang="en-US" sz="12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algorithmique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(Isolation 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Forest + DBSCAN). L'approche Dataset Proxy a validé la robustesse mathématique des algorithmes, transposable aux données locales haïtiennes.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2725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57452" y="593675"/>
            <a:ext cx="2829097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RECOMMANDATIONS</a:t>
            </a:r>
            <a:endParaRPr lang="en-US" sz="2000" dirty="0">
              <a:solidFill>
                <a:srgbClr val="231971"/>
              </a:solidFill>
              <a:latin typeface="Outfit ExtraBold" pitchFamily="34" charset="0"/>
              <a:ea typeface="Outfit ExtraBold" pitchFamily="34" charset="-122"/>
              <a:cs typeface="Outfit ExtraBold" pitchFamily="34" charset="-12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160115"/>
            <a:ext cx="8151763" cy="5000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7442" y="1332012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94978" y="1252984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Déploiement du modèle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4978" y="1416769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Déployer Isolation Forest avec le </a:t>
            </a:r>
            <a:r>
              <a:rPr lang="en-US" sz="10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seuil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0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caliber.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716137"/>
            <a:ext cx="8151763" cy="5000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7442" y="1888034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94978" y="1809006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Gestion des faux positifs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94978" y="1972791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Système de feedback des analystes, ajustement des seuils par canal </a:t>
            </a:r>
            <a:r>
              <a:rPr lang="en-US" sz="1000" dirty="0" smtClean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validation humaine avant blocage.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272159"/>
            <a:ext cx="8151763" cy="5000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7442" y="2444055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894978" y="2365028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Surveillance prioritaire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94978" y="2528813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Priorité absolue aux 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canaux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API et Web, profils de risque différenciés par type de client.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8" y="2828181"/>
            <a:ext cx="8151763" cy="5000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7442" y="3000077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894978" y="2921050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Amélioration continue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94978" y="3084835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Ré-entraînement mensuel, surveillance du Data Drift, IA explicable, segmentation par profil de compte.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384203"/>
            <a:ext cx="8151763" cy="5000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7442" y="3556099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894978" y="3477071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Transition vers les données haïtiennes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94978" y="3640857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Adapter les seuils au contexte socio-économique, convertir en HTG, valider sur données réelles, collaborer avec la BRH.</a:t>
            </a:r>
            <a:endParaRPr lang="en-US" sz="10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3940225"/>
            <a:ext cx="8151763" cy="5000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07442" y="4112121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894978" y="4033093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Perspectives d'évolution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894978" y="4196879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Deep Learning (auto-encodeurs), validation opérationnelle avec données BRH, MLOps automatisé, alerting en streaming.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6424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720" y="2250766"/>
            <a:ext cx="4050561" cy="4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5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MERCI DE VOTRE ATTENTION </a:t>
            </a:r>
            <a:endParaRPr lang="en-US" sz="2050" dirty="0"/>
          </a:p>
        </p:txBody>
      </p:sp>
    </p:spTree>
    <p:extLst>
      <p:ext uri="{BB962C8B-B14F-4D97-AF65-F5344CB8AC3E}">
        <p14:creationId xmlns:p14="http://schemas.microsoft.com/office/powerpoint/2010/main" val="279556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5299" y="2404377"/>
            <a:ext cx="4593403" cy="334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205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DÉMONSTRATION DU PROTOTYPE</a:t>
            </a:r>
            <a:endParaRPr lang="fr-FR" sz="2050" dirty="0">
              <a:solidFill>
                <a:srgbClr val="231971"/>
              </a:solidFill>
              <a:latin typeface="Outfit ExtraBold" pitchFamily="34" charset="0"/>
              <a:ea typeface="Outfit ExtraBold" pitchFamily="34" charset="-122"/>
              <a:cs typeface="Outfit Extra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854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6229" y="2409789"/>
            <a:ext cx="3431543" cy="32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fr-FR" sz="2050" dirty="0" smtClean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QUESTIONS ET RÉPONSES</a:t>
            </a:r>
            <a:endParaRPr lang="fr-FR" sz="2050" dirty="0">
              <a:solidFill>
                <a:srgbClr val="231971"/>
              </a:solidFill>
              <a:latin typeface="Outfit ExtraBold" pitchFamily="34" charset="0"/>
              <a:ea typeface="Outfit ExtraBold" pitchFamily="34" charset="-122"/>
              <a:cs typeface="Outfit Extra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4559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1121</Words>
  <Application>Microsoft Office PowerPoint</Application>
  <PresentationFormat>On-screen Show (16:9)</PresentationFormat>
  <Paragraphs>153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Arimo</vt:lpstr>
      <vt:lpstr>Arimo Bold</vt:lpstr>
      <vt:lpstr>Outfit Light</vt:lpstr>
      <vt:lpstr>Arial</vt:lpstr>
      <vt:lpstr>Outfit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Blemy Joseph</dc:creator>
  <cp:lastModifiedBy>Microsoft account</cp:lastModifiedBy>
  <cp:revision>72</cp:revision>
  <dcterms:created xsi:type="dcterms:W3CDTF">2026-07-23T18:07:55Z</dcterms:created>
  <dcterms:modified xsi:type="dcterms:W3CDTF">2026-07-29T20:46:56Z</dcterms:modified>
</cp:coreProperties>
</file>